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6858000" cx="12192000"/>
  <p:notesSz cx="6858000" cy="9144000"/>
  <p:embeddedFontLst>
    <p:embeddedFont>
      <p:font typeface="Inter SemiBold"/>
      <p:regular r:id="rId55"/>
      <p:bold r:id="rId56"/>
      <p:italic r:id="rId57"/>
      <p:boldItalic r:id="rId58"/>
    </p:embeddedFont>
    <p:embeddedFont>
      <p:font typeface="Inter"/>
      <p:regular r:id="rId59"/>
      <p:bold r:id="rId60"/>
      <p:italic r:id="rId61"/>
      <p:boldItalic r:id="rId62"/>
    </p:embeddedFont>
    <p:embeddedFont>
      <p:font typeface="Inter ExtraBold"/>
      <p:bold r:id="rId63"/>
      <p:boldItalic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50FB1E-381E-4140-9A19-7F1B9A2CA16E}">
  <a:tblStyle styleId="{5D50FB1E-381E-4140-9A19-7F1B9A2CA16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Inter-boldItalic.fntdata"/><Relationship Id="rId61" Type="http://schemas.openxmlformats.org/officeDocument/2006/relationships/font" Target="fonts/Inter-italic.fntdata"/><Relationship Id="rId20" Type="http://schemas.openxmlformats.org/officeDocument/2006/relationships/slide" Target="slides/slide14.xml"/><Relationship Id="rId64" Type="http://schemas.openxmlformats.org/officeDocument/2006/relationships/font" Target="fonts/InterExtraBold-boldItalic.fntdata"/><Relationship Id="rId63" Type="http://schemas.openxmlformats.org/officeDocument/2006/relationships/font" Target="fonts/InterExtraBold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Inter-bold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InterSemiBold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InterSemiBold-italic.fntdata"/><Relationship Id="rId12" Type="http://schemas.openxmlformats.org/officeDocument/2006/relationships/slide" Target="slides/slide6.xml"/><Relationship Id="rId56" Type="http://schemas.openxmlformats.org/officeDocument/2006/relationships/font" Target="fonts/InterSemiBold-bold.fntdata"/><Relationship Id="rId15" Type="http://schemas.openxmlformats.org/officeDocument/2006/relationships/slide" Target="slides/slide9.xml"/><Relationship Id="rId59" Type="http://schemas.openxmlformats.org/officeDocument/2006/relationships/font" Target="fonts/Inter-regular.fntdata"/><Relationship Id="rId14" Type="http://schemas.openxmlformats.org/officeDocument/2006/relationships/slide" Target="slides/slide8.xml"/><Relationship Id="rId58" Type="http://schemas.openxmlformats.org/officeDocument/2006/relationships/font" Target="fonts/InterSemiBold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3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4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4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4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4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9.png"/><Relationship Id="rId5" Type="http://schemas.openxmlformats.org/officeDocument/2006/relationships/image" Target="../media/image8.png"/><Relationship Id="rId6" Type="http://schemas.openxmlformats.org/officeDocument/2006/relationships/image" Target="../media/image6.png"/><Relationship Id="rId7" Type="http://schemas.openxmlformats.org/officeDocument/2006/relationships/image" Target="../media/image2.png"/><Relationship Id="rId8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2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Relationship Id="rId5" Type="http://schemas.openxmlformats.org/officeDocument/2006/relationships/image" Target="../media/image20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3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2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png"/><Relationship Id="rId4" Type="http://schemas.openxmlformats.org/officeDocument/2006/relationships/image" Target="../media/image4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Relationship Id="rId4" Type="http://schemas.openxmlformats.org/officeDocument/2006/relationships/image" Target="../media/image34.png"/><Relationship Id="rId9" Type="http://schemas.openxmlformats.org/officeDocument/2006/relationships/image" Target="../media/image36.png"/><Relationship Id="rId5" Type="http://schemas.openxmlformats.org/officeDocument/2006/relationships/image" Target="../media/image33.png"/><Relationship Id="rId6" Type="http://schemas.openxmlformats.org/officeDocument/2006/relationships/image" Target="../media/image38.png"/><Relationship Id="rId7" Type="http://schemas.openxmlformats.org/officeDocument/2006/relationships/image" Target="../media/image35.png"/><Relationship Id="rId8" Type="http://schemas.openxmlformats.org/officeDocument/2006/relationships/image" Target="../media/image3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png"/><Relationship Id="rId4" Type="http://schemas.openxmlformats.org/officeDocument/2006/relationships/image" Target="../media/image3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png"/><Relationship Id="rId4" Type="http://schemas.openxmlformats.org/officeDocument/2006/relationships/image" Target="../media/image49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png"/><Relationship Id="rId4" Type="http://schemas.openxmlformats.org/officeDocument/2006/relationships/image" Target="../media/image43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.png"/><Relationship Id="rId4" Type="http://schemas.openxmlformats.org/officeDocument/2006/relationships/image" Target="../media/image42.png"/><Relationship Id="rId5" Type="http://schemas.openxmlformats.org/officeDocument/2006/relationships/image" Target="../media/image40.png"/><Relationship Id="rId6" Type="http://schemas.openxmlformats.org/officeDocument/2006/relationships/image" Target="../media/image45.png"/><Relationship Id="rId7" Type="http://schemas.openxmlformats.org/officeDocument/2006/relationships/image" Target="../media/image4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.png"/><Relationship Id="rId4" Type="http://schemas.openxmlformats.org/officeDocument/2006/relationships/image" Target="../media/image44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907976" y="2650777"/>
            <a:ext cx="8376000" cy="8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Juegos</a:t>
            </a:r>
            <a:r>
              <a:rPr b="0" i="0" lang="en-US" sz="5250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de </a:t>
            </a:r>
            <a:r>
              <a:rPr lang="en-US" sz="525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</a:t>
            </a:r>
            <a:r>
              <a:rPr b="0" i="0" lang="en-US" sz="5250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gua </a:t>
            </a:r>
            <a:r>
              <a:rPr lang="en-US" sz="525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</a:t>
            </a:r>
            <a:r>
              <a:rPr b="0" i="0" lang="en-US" sz="5250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lásic</a:t>
            </a:r>
            <a:r>
              <a:rPr lang="en-US" sz="5250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07406" y="3650902"/>
            <a:ext cx="7977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Implementados con Kotlin y Android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524500" y="2673697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570434" y="3111847"/>
            <a:ext cx="90510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5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Introducción al </a:t>
            </a:r>
            <a:r>
              <a:rPr lang="en-US" sz="5625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</a:t>
            </a:r>
            <a:r>
              <a:rPr b="0" i="0" lang="en-US" sz="5625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royecto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2828925" y="4169122"/>
            <a:ext cx="65341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Visión general de la aplicación y tecnologías empleadas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81200"/>
            <a:ext cx="3486150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981200"/>
            <a:ext cx="3486150" cy="3800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981200"/>
            <a:ext cx="3486150" cy="3800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1398984" y="3238500"/>
            <a:ext cx="18502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5 Minijuegos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76300" y="3724275"/>
            <a:ext cx="28956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Colección de juegos basados en las clásicas máquinas portátiles de agua, implementando lógicas distintas en cada uno.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075872" y="3238500"/>
            <a:ext cx="20402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Compose + UI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4648200" y="372427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Interfaz moderna con Jetpack Compose combinada con un lienzo de dibujo nativo de alto rendimiento.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837771" y="3238500"/>
            <a:ext cx="206025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Test de Estrés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8420100" y="3724275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Una capa analítica que evalúa el estado emocional del usuario antes y después del juego.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995487" y="2419350"/>
            <a:ext cx="657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0737" y="2419350"/>
            <a:ext cx="3905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05962" y="2419350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¿Qué estamos construyendo?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1809750" y="2448222"/>
            <a:ext cx="904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Lenguaje: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Kotlin Puro (Tipado estático, Null Safety, Funciones Lambda).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1809750" y="3021508"/>
            <a:ext cx="904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UI Declarativa: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Jetpack Compose para los menús y gráficos estadísticos.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1809750" y="3594794"/>
            <a:ext cx="904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Renderizado Custom: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SurfaceView, Canvas y Paint para el motor físico a 60 FPS.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1809750" y="4168080"/>
            <a:ext cx="904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Almacenamiento: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SharedPreferences para la persistencia del historial de partidas.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1809750" y="4741366"/>
            <a:ext cx="904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Hardware: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Sensores (Acelerómetro) y SoundPool para feedback háptico/sonoro.</a:t>
            </a:r>
            <a:endParaRPr/>
          </a:p>
        </p:txBody>
      </p:sp>
      <p:pic>
        <p:nvPicPr>
          <p:cNvPr descr="image.png" id="123" name="Google Shape;123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491085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064371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637657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210942"/>
            <a:ext cx="2190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784228"/>
            <a:ext cx="21907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Stack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ecnológico y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atrones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/>
          <p:nvPr/>
        </p:nvSpPr>
        <p:spPr>
          <a:xfrm>
            <a:off x="5524500" y="2240309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305276" y="2678459"/>
            <a:ext cx="11581447" cy="1733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5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MainActivity &amp; Jetpack Compose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3548062" y="4602509"/>
            <a:ext cx="50958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punto de entrada y la interfaz declarativa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1" name="Google Shape;14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1809750" y="2064543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Heredamos de ComponentActivity, reemplazando el clásico XML por la función setContent { ... }.</a:t>
            </a:r>
            <a:endParaRPr/>
          </a:p>
        </p:txBody>
      </p:sp>
      <p:sp>
        <p:nvSpPr>
          <p:cNvPr id="143" name="Google Shape;143;p18"/>
          <p:cNvSpPr txBox="1"/>
          <p:nvPr/>
        </p:nvSpPr>
        <p:spPr>
          <a:xfrm>
            <a:off x="1809750" y="2972990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Definimos un flujo de pantallas cerrado mediante un enum class Pantalla (Menú, Jugando, Gráficos).</a:t>
            </a:r>
            <a:endParaRPr/>
          </a:p>
        </p:txBody>
      </p:sp>
      <p:sp>
        <p:nvSpPr>
          <p:cNvPr id="144" name="Google Shape;144;p18"/>
          <p:cNvSpPr txBox="1"/>
          <p:nvPr/>
        </p:nvSpPr>
        <p:spPr>
          <a:xfrm>
            <a:off x="1809750" y="3881437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uso de BackHandler intercepta el botón físico del dispositivo para evitar cierres accidentales.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1809750" y="4789884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Organizamos los juegos mediante una Data Class que almacena el nombre y su función constructora lambda.</a:t>
            </a:r>
            <a:endParaRPr/>
          </a:p>
        </p:txBody>
      </p:sp>
      <p:pic>
        <p:nvPicPr>
          <p:cNvPr descr="image.png" id="146" name="Google Shape;14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107406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015853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924300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832746"/>
            <a:ext cx="3143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8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El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punto de partida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: MainActivity.kt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66987"/>
            <a:ext cx="527685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66987"/>
            <a:ext cx="5276850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9"/>
          <p:cNvSpPr txBox="1"/>
          <p:nvPr/>
        </p:nvSpPr>
        <p:spPr>
          <a:xfrm>
            <a:off x="971550" y="2957512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Estado Reactivo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971550" y="3443287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Las variables marcadas con mutableStateOf provocan que Compose redibuje automáticamente (Recomposition) la pantalla cuando su valor cambia.</a:t>
            </a:r>
            <a:endParaRPr/>
          </a:p>
        </p:txBody>
      </p:sp>
      <p:sp>
        <p:nvSpPr>
          <p:cNvPr id="160" name="Google Shape;160;p19"/>
          <p:cNvSpPr txBox="1"/>
          <p:nvPr/>
        </p:nvSpPr>
        <p:spPr>
          <a:xfrm>
            <a:off x="6724650" y="2957512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Retención en Memoria</a:t>
            </a:r>
            <a:endParaRPr/>
          </a:p>
        </p:txBody>
      </p:sp>
      <p:sp>
        <p:nvSpPr>
          <p:cNvPr id="161" name="Google Shape;161;p19"/>
          <p:cNvSpPr txBox="1"/>
          <p:nvPr/>
        </p:nvSpPr>
        <p:spPr>
          <a:xfrm>
            <a:off x="6724650" y="3443287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Usamos la función remember para preservar el estado ante rotaciones o ciclos de recomposición rápidos (ej. deslizar un Slider).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Gestión del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stado en Compose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581025" y="2428875"/>
            <a:ext cx="5276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34D39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CSV</a:t>
            </a:r>
            <a:endParaRPr/>
          </a:p>
        </p:txBody>
      </p:sp>
      <p:sp>
        <p:nvSpPr>
          <p:cNvPr id="169" name="Google Shape;169;p20"/>
          <p:cNvSpPr txBox="1"/>
          <p:nvPr/>
        </p:nvSpPr>
        <p:spPr>
          <a:xfrm>
            <a:off x="581025" y="4048125"/>
            <a:ext cx="52768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Formato Ligero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6334125" y="2428875"/>
            <a:ext cx="55406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SharedPreferences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6334125" y="2914650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 lugar de una compleja base de datos SQL, guardamos el historial de estrés del usuario encadenando texto. Cada partida se delimita por punto y coma (;) y sus propiedades internas por comas (,).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6334125" y="427672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 una solución extremadamente rápida y ligera para métricas simples que no requieren consultas relacionales.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Persistencia de Datos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1"/>
          <p:cNvSpPr txBox="1"/>
          <p:nvPr/>
        </p:nvSpPr>
        <p:spPr>
          <a:xfrm>
            <a:off x="1979711" y="2352675"/>
            <a:ext cx="8232300" cy="27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AndroidView es el puente que nos permite incrustar vistas antiguas como un Canvas tradicional dentro de Jetpack Compose.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5267175" y="5133975"/>
            <a:ext cx="188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MainActivity.</a:t>
            </a:r>
            <a:r>
              <a:rPr lang="en-US" sz="1800">
                <a:solidFill>
                  <a:srgbClr val="34D39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</a:t>
            </a:r>
            <a:r>
              <a:rPr b="0" i="0" lang="en-US" sz="1800" u="none" cap="none" strike="noStrike">
                <a:solidFill>
                  <a:srgbClr val="34D39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1217711" y="2733675"/>
            <a:ext cx="5905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10383590" y="4752975"/>
            <a:ext cx="5905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Interoperabilidad Compose-Views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8" name="Google Shape;18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2"/>
          <p:cNvSpPr/>
          <p:nvPr/>
        </p:nvSpPr>
        <p:spPr>
          <a:xfrm>
            <a:off x="5524500" y="2673697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1026175" y="3111850"/>
            <a:ext cx="105876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5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El </a:t>
            </a:r>
            <a:r>
              <a:rPr lang="en-US" sz="5625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</a:t>
            </a:r>
            <a:r>
              <a:rPr b="0" i="0" lang="en-US" sz="5625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otor </a:t>
            </a:r>
            <a:r>
              <a:rPr lang="en-US" sz="5625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base para las físicas</a:t>
            </a:r>
            <a:endParaRPr/>
          </a:p>
        </p:txBody>
      </p:sp>
      <p:sp>
        <p:nvSpPr>
          <p:cNvPr id="191" name="Google Shape;191;p22"/>
          <p:cNvSpPr txBox="1"/>
          <p:nvPr/>
        </p:nvSpPr>
        <p:spPr>
          <a:xfrm>
            <a:off x="2543175" y="4169122"/>
            <a:ext cx="71056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Base.kt: Renderizado continuo y arquitectura del Game Loop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6" name="Google Shape;19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3"/>
          <p:cNvSpPr/>
          <p:nvPr/>
        </p:nvSpPr>
        <p:spPr>
          <a:xfrm>
            <a:off x="581025" y="4043362"/>
            <a:ext cx="11029950" cy="5715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517605" y="4405312"/>
            <a:ext cx="26636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Lógica</a:t>
            </a:r>
            <a:endParaRPr/>
          </a:p>
        </p:txBody>
      </p:sp>
      <p:sp>
        <p:nvSpPr>
          <p:cNvPr id="199" name="Google Shape;199;p23"/>
          <p:cNvSpPr txBox="1"/>
          <p:nvPr/>
        </p:nvSpPr>
        <p:spPr>
          <a:xfrm>
            <a:off x="581025" y="4891087"/>
            <a:ext cx="2536775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Calcula vectores, colisiones y aplica gravedad a todos los objetos.</a:t>
            </a:r>
            <a:endParaRPr/>
          </a:p>
        </p:txBody>
      </p:sp>
      <p:sp>
        <p:nvSpPr>
          <p:cNvPr id="200" name="Google Shape;200;p23"/>
          <p:cNvSpPr txBox="1"/>
          <p:nvPr/>
        </p:nvSpPr>
        <p:spPr>
          <a:xfrm>
            <a:off x="3348614" y="2195512"/>
            <a:ext cx="26636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Lock Canvas</a:t>
            </a:r>
            <a:endParaRPr/>
          </a:p>
        </p:txBody>
      </p:sp>
      <p:sp>
        <p:nvSpPr>
          <p:cNvPr id="201" name="Google Shape;201;p23"/>
          <p:cNvSpPr txBox="1"/>
          <p:nvPr/>
        </p:nvSpPr>
        <p:spPr>
          <a:xfrm>
            <a:off x="3412033" y="2681287"/>
            <a:ext cx="2536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Bloquea el lienzo temporalmente para evitar que Android lo altere.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6179622" y="4405312"/>
            <a:ext cx="26636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Renderizado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6243042" y="4891087"/>
            <a:ext cx="2536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Dibuja el agua, las piezas y la interfaz superior (z-index manual).</a:t>
            </a:r>
            <a:endParaRPr/>
          </a:p>
        </p:txBody>
      </p:sp>
      <p:sp>
        <p:nvSpPr>
          <p:cNvPr id="204" name="Google Shape;204;p23"/>
          <p:cNvSpPr txBox="1"/>
          <p:nvPr/>
        </p:nvSpPr>
        <p:spPr>
          <a:xfrm>
            <a:off x="9010631" y="2195512"/>
            <a:ext cx="26636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 Post Canvas</a:t>
            </a:r>
            <a:endParaRPr/>
          </a:p>
        </p:txBody>
      </p:sp>
      <p:sp>
        <p:nvSpPr>
          <p:cNvPr id="205" name="Google Shape;205;p23"/>
          <p:cNvSpPr txBox="1"/>
          <p:nvPr/>
        </p:nvSpPr>
        <p:spPr>
          <a:xfrm>
            <a:off x="9074050" y="2681287"/>
            <a:ext cx="2536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Libera el lienzo y proyecta los nuevos píxeles en la pantalla.</a:t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>
            <a:off x="1735112" y="39576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571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4566121" y="39576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571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7397129" y="39576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571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10228138" y="39576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571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Ciclo de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ida del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juego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4"/>
          <p:cNvSpPr txBox="1"/>
          <p:nvPr/>
        </p:nvSpPr>
        <p:spPr>
          <a:xfrm>
            <a:off x="1809750" y="2518767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 podemos ejecutar cálculos físicos pesados en el </a:t>
            </a: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Main UI Thread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(Hilo principal), o la app se congelaría (ANR).</a:t>
            </a:r>
            <a:endParaRPr/>
          </a:p>
        </p:txBody>
      </p:sp>
      <p:sp>
        <p:nvSpPr>
          <p:cNvPr id="217" name="Google Shape;217;p24"/>
          <p:cNvSpPr txBox="1"/>
          <p:nvPr/>
        </p:nvSpPr>
        <p:spPr>
          <a:xfrm>
            <a:off x="1809750" y="3427214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implementar Runnable, la clase JuegoAguaBase crea un hilo secundario obrero (Worker Thread).</a:t>
            </a:r>
            <a:endParaRPr/>
          </a:p>
        </p:txBody>
      </p:sp>
      <p:sp>
        <p:nvSpPr>
          <p:cNvPr id="218" name="Google Shape;218;p24"/>
          <p:cNvSpPr txBox="1"/>
          <p:nvPr/>
        </p:nvSpPr>
        <p:spPr>
          <a:xfrm>
            <a:off x="1809750" y="4335660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@Volatile var jugando garantiza que la CPU principal y el hilo secundario sincronicen el cierre de la app sin colisionar.</a:t>
            </a:r>
            <a:endParaRPr/>
          </a:p>
        </p:txBody>
      </p:sp>
      <p:pic>
        <p:nvPicPr>
          <p:cNvPr descr="image.png" id="219" name="Google Shape;21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561629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470076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378523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4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Hilos de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jecución (Threads)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414587"/>
            <a:ext cx="527685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14587"/>
            <a:ext cx="5276850" cy="2933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 txBox="1"/>
          <p:nvPr/>
        </p:nvSpPr>
        <p:spPr>
          <a:xfrm>
            <a:off x="971550" y="2805112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problema de 'onDraw'</a:t>
            </a:r>
            <a:endParaRPr/>
          </a:p>
        </p:txBody>
      </p:sp>
      <p:sp>
        <p:nvSpPr>
          <p:cNvPr id="231" name="Google Shape;231;p25"/>
          <p:cNvSpPr txBox="1"/>
          <p:nvPr/>
        </p:nvSpPr>
        <p:spPr>
          <a:xfrm>
            <a:off x="971550" y="3290887"/>
            <a:ext cx="4495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Instanciar objetos como Paint, Path o RectF dentro de un bucle a 60 FPS inunda la RAM. El Recolector de Basura (GC) se activa constantemente, causando caídas drásticas de frames (Jittering).</a:t>
            </a:r>
            <a:endParaRPr/>
          </a:p>
        </p:txBody>
      </p:sp>
      <p:sp>
        <p:nvSpPr>
          <p:cNvPr id="232" name="Google Shape;232;p25"/>
          <p:cNvSpPr txBox="1"/>
          <p:nvPr/>
        </p:nvSpPr>
        <p:spPr>
          <a:xfrm>
            <a:off x="6724650" y="2805112"/>
            <a:ext cx="4720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Cero </a:t>
            </a:r>
            <a:r>
              <a:rPr lang="en-US" sz="225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</a:t>
            </a: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signaciones</a:t>
            </a:r>
            <a:endParaRPr/>
          </a:p>
        </p:txBody>
      </p:sp>
      <p:sp>
        <p:nvSpPr>
          <p:cNvPr id="233" name="Google Shape;233;p25"/>
          <p:cNvSpPr txBox="1"/>
          <p:nvPr/>
        </p:nvSpPr>
        <p:spPr>
          <a:xfrm>
            <a:off x="6724650" y="3290887"/>
            <a:ext cx="44958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Declaramos los pinceles como propiedades de la clase (val paintBase). Los objetos rectangulares se cachean y solo alteramos sus coordenadas numéricas mediante métodos como path.reset().</a:t>
            </a:r>
            <a:endParaRPr/>
          </a:p>
        </p:txBody>
      </p:sp>
      <p:sp>
        <p:nvSpPr>
          <p:cNvPr id="234" name="Google Shape;234;p25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Optimización de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emoria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ráfica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6"/>
          <p:cNvSpPr txBox="1"/>
          <p:nvPr/>
        </p:nvSpPr>
        <p:spPr>
          <a:xfrm>
            <a:off x="581025" y="2805112"/>
            <a:ext cx="5276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34D39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60</a:t>
            </a:r>
            <a:endParaRPr/>
          </a:p>
        </p:txBody>
      </p:sp>
      <p:sp>
        <p:nvSpPr>
          <p:cNvPr id="241" name="Google Shape;241;p26"/>
          <p:cNvSpPr txBox="1"/>
          <p:nvPr/>
        </p:nvSpPr>
        <p:spPr>
          <a:xfrm>
            <a:off x="581025" y="4424362"/>
            <a:ext cx="52768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Fotogramas por Segundo</a:t>
            </a:r>
            <a:endParaRPr/>
          </a:p>
        </p:txBody>
      </p:sp>
      <p:sp>
        <p:nvSpPr>
          <p:cNvPr id="242" name="Google Shape;242;p26"/>
          <p:cNvSpPr txBox="1"/>
          <p:nvPr/>
        </p:nvSpPr>
        <p:spPr>
          <a:xfrm>
            <a:off x="6334125" y="2805112"/>
            <a:ext cx="55407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Bucle </a:t>
            </a:r>
            <a:r>
              <a:rPr lang="en-US" sz="225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</a:t>
            </a: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ninterrumpido</a:t>
            </a:r>
            <a:endParaRPr/>
          </a:p>
        </p:txBody>
      </p:sp>
      <p:sp>
        <p:nvSpPr>
          <p:cNvPr id="243" name="Google Shape;243;p26"/>
          <p:cNvSpPr txBox="1"/>
          <p:nvPr/>
        </p:nvSpPr>
        <p:spPr>
          <a:xfrm>
            <a:off x="6334125" y="3290887"/>
            <a:ext cx="5276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combinación de SurfaceView con Threading dedicado y políticas estrictas de "Cero Allocations" asegura una experiencia visual totalmente fluida, vital para simular física de fluidos de forma realista en móviles.</a:t>
            </a:r>
            <a:endParaRPr/>
          </a:p>
        </p:txBody>
      </p:sp>
      <p:sp>
        <p:nvSpPr>
          <p:cNvPr id="244" name="Google Shape;244;p26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Experiencia visual fluida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9" name="Google Shape;24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50" name="Google Shape;250;p27"/>
          <p:cNvGraphicFramePr/>
          <p:nvPr/>
        </p:nvGraphicFramePr>
        <p:xfrm>
          <a:off x="581025" y="21231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{5D50FB1E-381E-4140-9A19-7F1B9A2CA16E}</a:tableStyleId>
              </a:tblPr>
              <a:tblGrid>
                <a:gridCol w="2521600"/>
                <a:gridCol w="5756225"/>
                <a:gridCol w="2733075"/>
              </a:tblGrid>
              <a:tr h="70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Variable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Propósito Matemático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Valor Ejemplo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0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Gravedad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Fuerza descendente constante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+0.8f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Flotabilidad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Fuerza contraria dependiente del fluido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-0.5f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0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Viscosidad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Freno multiplicativo de inercia (Roce)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0000FF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0.92f</a:t>
                      </a:r>
                      <a:endParaRPr>
                        <a:solidFill>
                          <a:srgbClr val="0000FF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Inercia Y (vy)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Velocidad acumulada en eje vertical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Mutante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251" name="Google Shape;251;p27"/>
          <p:cNvSpPr/>
          <p:nvPr/>
        </p:nvSpPr>
        <p:spPr>
          <a:xfrm>
            <a:off x="590550" y="2848867"/>
            <a:ext cx="2521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7"/>
          <p:cNvSpPr/>
          <p:nvPr/>
        </p:nvSpPr>
        <p:spPr>
          <a:xfrm>
            <a:off x="3112144" y="2848867"/>
            <a:ext cx="57562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8868370" y="2848867"/>
            <a:ext cx="27330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7"/>
          <p:cNvSpPr/>
          <p:nvPr/>
        </p:nvSpPr>
        <p:spPr>
          <a:xfrm>
            <a:off x="590550" y="3544192"/>
            <a:ext cx="2521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7"/>
          <p:cNvSpPr/>
          <p:nvPr/>
        </p:nvSpPr>
        <p:spPr>
          <a:xfrm>
            <a:off x="3112144" y="3544192"/>
            <a:ext cx="57562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7"/>
          <p:cNvSpPr/>
          <p:nvPr/>
        </p:nvSpPr>
        <p:spPr>
          <a:xfrm>
            <a:off x="8868370" y="3544192"/>
            <a:ext cx="27330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7"/>
          <p:cNvSpPr/>
          <p:nvPr/>
        </p:nvSpPr>
        <p:spPr>
          <a:xfrm>
            <a:off x="590550" y="4239517"/>
            <a:ext cx="2521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3112144" y="4239517"/>
            <a:ext cx="57562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/>
          <p:nvPr/>
        </p:nvSpPr>
        <p:spPr>
          <a:xfrm>
            <a:off x="8868370" y="4239517"/>
            <a:ext cx="27330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7"/>
          <p:cNvSpPr/>
          <p:nvPr/>
        </p:nvSpPr>
        <p:spPr>
          <a:xfrm>
            <a:off x="590550" y="4934842"/>
            <a:ext cx="252159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7"/>
          <p:cNvSpPr/>
          <p:nvPr/>
        </p:nvSpPr>
        <p:spPr>
          <a:xfrm>
            <a:off x="3112144" y="4934842"/>
            <a:ext cx="575622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7"/>
          <p:cNvSpPr/>
          <p:nvPr/>
        </p:nvSpPr>
        <p:spPr>
          <a:xfrm>
            <a:off x="8868370" y="4934842"/>
            <a:ext cx="273307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Implementación de las físicas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8" name="Google Shape;26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8"/>
          <p:cNvSpPr txBox="1"/>
          <p:nvPr/>
        </p:nvSpPr>
        <p:spPr>
          <a:xfrm>
            <a:off x="1809750" y="4045594"/>
            <a:ext cx="8572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Una regla estricta en el bucle impide que la aceleración acumulada exceda límites balísticos. Si un vector de fuerza supera los 14f, se ancla en ese límite.</a:t>
            </a:r>
            <a:endParaRPr/>
          </a:p>
        </p:txBody>
      </p:sp>
      <p:pic>
        <p:nvPicPr>
          <p:cNvPr descr="image.png" id="270" name="Google Shape;27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18333" y="3155305"/>
            <a:ext cx="6955184" cy="50928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8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imitando la velocidad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9"/>
          <p:cNvSpPr txBox="1"/>
          <p:nvPr/>
        </p:nvSpPr>
        <p:spPr>
          <a:xfrm>
            <a:off x="1809750" y="2064543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LinearGradient: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Crea sensación volumétrica usando colores opacos al fondo y transparentes en superficie.</a:t>
            </a:r>
            <a:endParaRPr/>
          </a:p>
        </p:txBody>
      </p:sp>
      <p:sp>
        <p:nvSpPr>
          <p:cNvPr id="278" name="Google Shape;278;p29"/>
          <p:cNvSpPr txBox="1"/>
          <p:nvPr/>
        </p:nvSpPr>
        <p:spPr>
          <a:xfrm>
            <a:off x="1809750" y="2972990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Dithering: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Activamos isDither = true en el Paint para mezclar colores sin cortes (escalones) en la pantalla.</a:t>
            </a:r>
            <a:endParaRPr/>
          </a:p>
        </p:txBody>
      </p:sp>
      <p:sp>
        <p:nvSpPr>
          <p:cNvPr id="279" name="Google Shape;279;p29"/>
          <p:cNvSpPr txBox="1"/>
          <p:nvPr/>
        </p:nvSpPr>
        <p:spPr>
          <a:xfrm>
            <a:off x="1809750" y="3881437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Rotación de Shader: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Usamos Matrix() para girar el degradado junto con la inclinación del agua dinámica.</a:t>
            </a:r>
            <a:endParaRPr/>
          </a:p>
        </p:txBody>
      </p:sp>
      <p:sp>
        <p:nvSpPr>
          <p:cNvPr id="280" name="Google Shape;280;p29"/>
          <p:cNvSpPr txBox="1"/>
          <p:nvPr/>
        </p:nvSpPr>
        <p:spPr>
          <a:xfrm>
            <a:off x="1809750" y="4789884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Ondulación Procedural: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Aplicamos funciones de Seno (sin) sobre los vértices del Path para simular oleaje natural.</a:t>
            </a:r>
            <a:endParaRPr/>
          </a:p>
        </p:txBody>
      </p:sp>
      <p:pic>
        <p:nvPicPr>
          <p:cNvPr descr="image.png" id="281" name="Google Shape;28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107406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015853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924300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4" name="Google Shape;28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832746"/>
            <a:ext cx="2762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29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Renderizando el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gua (Shaders)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0" name="Google Shape;29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0"/>
          <p:cNvSpPr/>
          <p:nvPr/>
        </p:nvSpPr>
        <p:spPr>
          <a:xfrm>
            <a:off x="5524500" y="2673697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0"/>
          <p:cNvSpPr txBox="1"/>
          <p:nvPr/>
        </p:nvSpPr>
        <p:spPr>
          <a:xfrm>
            <a:off x="1790461" y="3111847"/>
            <a:ext cx="86112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5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Hardware e </a:t>
            </a:r>
            <a:r>
              <a:rPr lang="en-US" sz="5625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</a:t>
            </a:r>
            <a:r>
              <a:rPr b="0" i="0" lang="en-US" sz="5625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nteracción</a:t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729037" y="4169122"/>
            <a:ext cx="47339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Sensores capacitivos, táctiles y sonoros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8" name="Google Shape;29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31"/>
          <p:cNvSpPr txBox="1"/>
          <p:nvPr/>
        </p:nvSpPr>
        <p:spPr>
          <a:xfrm>
            <a:off x="1809750" y="2064543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Implementamos la interfaz SensorEventListener y leemos `Sensor.TYPE_ACCELEROMETER`.</a:t>
            </a:r>
            <a:endParaRPr/>
          </a:p>
        </p:txBody>
      </p:sp>
      <p:sp>
        <p:nvSpPr>
          <p:cNvPr id="300" name="Google Shape;300;p31"/>
          <p:cNvSpPr txBox="1"/>
          <p:nvPr/>
        </p:nvSpPr>
        <p:spPr>
          <a:xfrm>
            <a:off x="1809750" y="2972990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Eje X: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Mide la inclinación lateral (izquierda/derecha). Se invierte para que coincida con el vector de dibujo del Canvas.</a:t>
            </a:r>
            <a:endParaRPr/>
          </a:p>
        </p:txBody>
      </p:sp>
      <p:sp>
        <p:nvSpPr>
          <p:cNvPr id="301" name="Google Shape;301;p31"/>
          <p:cNvSpPr txBox="1"/>
          <p:nvPr/>
        </p:nvSpPr>
        <p:spPr>
          <a:xfrm>
            <a:off x="1809750" y="3881437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Eje Y: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Al levantar el móvil, inyectamos gravedad artificial, empujando las piezas hacia el plástico inferior.</a:t>
            </a:r>
            <a:endParaRPr/>
          </a:p>
        </p:txBody>
      </p:sp>
      <p:sp>
        <p:nvSpPr>
          <p:cNvPr id="302" name="Google Shape;302;p31"/>
          <p:cNvSpPr txBox="1"/>
          <p:nvPr/>
        </p:nvSpPr>
        <p:spPr>
          <a:xfrm>
            <a:off x="1809750" y="4789884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agua reacciona gráficamente deformando su Path basal según el grado de inclinación del hardware.</a:t>
            </a:r>
            <a:endParaRPr/>
          </a:p>
        </p:txBody>
      </p:sp>
      <p:pic>
        <p:nvPicPr>
          <p:cNvPr descr="image.png" id="303" name="Google Shape;30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107406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4" name="Google Shape;304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015853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92430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832746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31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Acelerómetro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ntegrado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2"/>
          <p:cNvSpPr txBox="1"/>
          <p:nvPr/>
        </p:nvSpPr>
        <p:spPr>
          <a:xfrm>
            <a:off x="581025" y="2276475"/>
            <a:ext cx="64866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00" u="none" cap="none" strike="noStrike">
                <a:solidFill>
                  <a:srgbClr val="34D39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POINTER</a:t>
            </a:r>
            <a:endParaRPr sz="500"/>
          </a:p>
        </p:txBody>
      </p:sp>
      <p:sp>
        <p:nvSpPr>
          <p:cNvPr id="314" name="Google Shape;314;p32"/>
          <p:cNvSpPr txBox="1"/>
          <p:nvPr/>
        </p:nvSpPr>
        <p:spPr>
          <a:xfrm>
            <a:off x="581025" y="3895725"/>
            <a:ext cx="64865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Action Masked</a:t>
            </a:r>
            <a:endParaRPr/>
          </a:p>
        </p:txBody>
      </p:sp>
      <p:sp>
        <p:nvSpPr>
          <p:cNvPr id="315" name="Google Shape;315;p32"/>
          <p:cNvSpPr txBox="1"/>
          <p:nvPr/>
        </p:nvSpPr>
        <p:spPr>
          <a:xfrm>
            <a:off x="7543800" y="2276475"/>
            <a:ext cx="427053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Eventos Concurrentes</a:t>
            </a:r>
            <a:endParaRPr/>
          </a:p>
        </p:txBody>
      </p:sp>
      <p:sp>
        <p:nvSpPr>
          <p:cNvPr id="316" name="Google Shape;316;p32"/>
          <p:cNvSpPr txBox="1"/>
          <p:nvPr/>
        </p:nvSpPr>
        <p:spPr>
          <a:xfrm>
            <a:off x="7543800" y="2762250"/>
            <a:ext cx="40671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Para pulsar ambos botones de agua simultáneamente, no basta con ACTION_DOWN.</a:t>
            </a:r>
            <a:endParaRPr/>
          </a:p>
        </p:txBody>
      </p:sp>
      <p:sp>
        <p:nvSpPr>
          <p:cNvPr id="317" name="Google Shape;317;p32"/>
          <p:cNvSpPr txBox="1"/>
          <p:nvPr/>
        </p:nvSpPr>
        <p:spPr>
          <a:xfrm>
            <a:off x="7543800" y="3819525"/>
            <a:ext cx="4067175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Iteramos sobre event.pointerCount extrayendo las coordenadas X,Y de cada dedo sobre la pantalla y verificando si cruzan las zonas asignadas a los botones virtuales inferiores.</a:t>
            </a:r>
            <a:endParaRPr/>
          </a:p>
        </p:txBody>
      </p:sp>
      <p:sp>
        <p:nvSpPr>
          <p:cNvPr id="318" name="Google Shape;318;p32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Detección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ultitáctil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3" name="Google Shape;32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3"/>
          <p:cNvSpPr txBox="1"/>
          <p:nvPr/>
        </p:nvSpPr>
        <p:spPr>
          <a:xfrm>
            <a:off x="1979711" y="2052637"/>
            <a:ext cx="8232427" cy="3000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 diferencia de MediaPlayer, SoundPool precarga los audios cortos en la memoria RAM, permitiendo reproducir disparos de burbujas sin retrasos ni interrupciones del hilo.</a:t>
            </a:r>
            <a:endParaRPr/>
          </a:p>
        </p:txBody>
      </p:sp>
      <p:sp>
        <p:nvSpPr>
          <p:cNvPr id="325" name="Google Shape;325;p33"/>
          <p:cNvSpPr txBox="1"/>
          <p:nvPr/>
        </p:nvSpPr>
        <p:spPr>
          <a:xfrm>
            <a:off x="4272850" y="5604960"/>
            <a:ext cx="4303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Arquitectura de Audio Android</a:t>
            </a:r>
            <a:endParaRPr/>
          </a:p>
        </p:txBody>
      </p:sp>
      <p:sp>
        <p:nvSpPr>
          <p:cNvPr id="326" name="Google Shape;326;p33"/>
          <p:cNvSpPr txBox="1"/>
          <p:nvPr/>
        </p:nvSpPr>
        <p:spPr>
          <a:xfrm>
            <a:off x="1217711" y="2433637"/>
            <a:ext cx="5905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</a:t>
            </a:r>
            <a:endParaRPr/>
          </a:p>
        </p:txBody>
      </p:sp>
      <p:sp>
        <p:nvSpPr>
          <p:cNvPr id="327" name="Google Shape;327;p33"/>
          <p:cNvSpPr txBox="1"/>
          <p:nvPr/>
        </p:nvSpPr>
        <p:spPr>
          <a:xfrm>
            <a:off x="10383590" y="5053012"/>
            <a:ext cx="5905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</a:t>
            </a:r>
            <a:endParaRPr/>
          </a:p>
        </p:txBody>
      </p:sp>
      <p:sp>
        <p:nvSpPr>
          <p:cNvPr id="328" name="Google Shape;328;p33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Efectos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onoros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atencia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962150"/>
            <a:ext cx="3486150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962150"/>
            <a:ext cx="3486150" cy="383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962150"/>
            <a:ext cx="3486150" cy="38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4"/>
          <p:cNvSpPr txBox="1"/>
          <p:nvPr/>
        </p:nvSpPr>
        <p:spPr>
          <a:xfrm>
            <a:off x="803910" y="3219450"/>
            <a:ext cx="30403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Conversión Int -&gt; HSV</a:t>
            </a:r>
            <a:endParaRPr/>
          </a:p>
        </p:txBody>
      </p:sp>
      <p:sp>
        <p:nvSpPr>
          <p:cNvPr id="338" name="Google Shape;338;p34"/>
          <p:cNvSpPr txBox="1"/>
          <p:nvPr/>
        </p:nvSpPr>
        <p:spPr>
          <a:xfrm>
            <a:off x="876300" y="404812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Descomponemos el código decimal de color en Hue (Tono), Saturation (Saturación) y Value (Brillo).</a:t>
            </a:r>
            <a:endParaRPr/>
          </a:p>
        </p:txBody>
      </p:sp>
      <p:sp>
        <p:nvSpPr>
          <p:cNvPr id="339" name="Google Shape;339;p34"/>
          <p:cNvSpPr txBox="1"/>
          <p:nvPr/>
        </p:nvSpPr>
        <p:spPr>
          <a:xfrm>
            <a:off x="5420915" y="3219450"/>
            <a:ext cx="135016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Mutación</a:t>
            </a:r>
            <a:endParaRPr/>
          </a:p>
        </p:txBody>
      </p:sp>
      <p:sp>
        <p:nvSpPr>
          <p:cNvPr id="340" name="Google Shape;340;p34"/>
          <p:cNvSpPr txBox="1"/>
          <p:nvPr/>
        </p:nvSpPr>
        <p:spPr>
          <a:xfrm>
            <a:off x="4648200" y="370522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Multiplicamos el índice V (Brillo) por 0.6f para simular una sombra de hundimiento físico.</a:t>
            </a:r>
            <a:endParaRPr/>
          </a:p>
        </p:txBody>
      </p:sp>
      <p:sp>
        <p:nvSpPr>
          <p:cNvPr id="341" name="Google Shape;341;p34"/>
          <p:cNvSpPr txBox="1"/>
          <p:nvPr/>
        </p:nvSpPr>
        <p:spPr>
          <a:xfrm>
            <a:off x="8602741" y="3219450"/>
            <a:ext cx="25303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Re-empaquetado</a:t>
            </a:r>
            <a:endParaRPr/>
          </a:p>
        </p:txBody>
      </p:sp>
      <p:sp>
        <p:nvSpPr>
          <p:cNvPr id="342" name="Google Shape;342;p34"/>
          <p:cNvSpPr txBox="1"/>
          <p:nvPr/>
        </p:nvSpPr>
        <p:spPr>
          <a:xfrm>
            <a:off x="8420100" y="370522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Volvemos a compilar el ColorInt resultante, ejecutándolo una sola vez (caché) para evitar basura.</a:t>
            </a:r>
            <a:endParaRPr/>
          </a:p>
        </p:txBody>
      </p:sp>
      <p:pic>
        <p:nvPicPr>
          <p:cNvPr descr="image.png" id="343" name="Google Shape;343;p3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2162" y="240030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3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0737" y="2400300"/>
            <a:ext cx="3905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3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39287" y="2400300"/>
            <a:ext cx="65722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4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Feedback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v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isual (Espacio HSV)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5"/>
          <p:cNvSpPr/>
          <p:nvPr/>
        </p:nvSpPr>
        <p:spPr>
          <a:xfrm>
            <a:off x="5524500" y="2673697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5"/>
          <p:cNvSpPr txBox="1"/>
          <p:nvPr/>
        </p:nvSpPr>
        <p:spPr>
          <a:xfrm>
            <a:off x="1235392" y="3111847"/>
            <a:ext cx="9721200" cy="8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5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Minijuego 1: Aros </a:t>
            </a:r>
            <a:r>
              <a:rPr lang="en-US" sz="5625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</a:t>
            </a:r>
            <a:r>
              <a:rPr b="0" i="0" lang="en-US" sz="5625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lásicos</a:t>
            </a:r>
            <a:endParaRPr/>
          </a:p>
        </p:txBody>
      </p:sp>
      <p:sp>
        <p:nvSpPr>
          <p:cNvPr id="354" name="Google Shape;354;p35"/>
          <p:cNvSpPr txBox="1"/>
          <p:nvPr/>
        </p:nvSpPr>
        <p:spPr>
          <a:xfrm>
            <a:off x="3276600" y="4169122"/>
            <a:ext cx="563880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Aros.kt - Mecánicas de ensartado y perspectiva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6"/>
          <p:cNvSpPr txBox="1"/>
          <p:nvPr/>
        </p:nvSpPr>
        <p:spPr>
          <a:xfrm>
            <a:off x="1809750" y="2853928"/>
            <a:ext cx="904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Postes estáticos: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Tres rectángulos fijos dibujados como fondo amarillo sólido.</a:t>
            </a:r>
            <a:endParaRPr/>
          </a:p>
        </p:txBody>
      </p:sp>
      <p:sp>
        <p:nvSpPr>
          <p:cNvPr id="361" name="Google Shape;361;p36"/>
          <p:cNvSpPr txBox="1"/>
          <p:nvPr/>
        </p:nvSpPr>
        <p:spPr>
          <a:xfrm>
            <a:off x="1809750" y="3427214"/>
            <a:ext cx="904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Aros dinámicos: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Círculos dibujados con STROKE, creando visualmente una rosquilla.</a:t>
            </a:r>
            <a:endParaRPr/>
          </a:p>
        </p:txBody>
      </p:sp>
      <p:sp>
        <p:nvSpPr>
          <p:cNvPr id="362" name="Google Shape;362;p36"/>
          <p:cNvSpPr txBox="1"/>
          <p:nvPr/>
        </p:nvSpPr>
        <p:spPr>
          <a:xfrm>
            <a:off x="1809750" y="4000500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Meta: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Lograr que la inercia Y empuje el aro desde arriba del poste con la coordenada X perfectamente alineada.</a:t>
            </a:r>
            <a:endParaRPr/>
          </a:p>
        </p:txBody>
      </p:sp>
      <p:pic>
        <p:nvPicPr>
          <p:cNvPr descr="image.png" id="363" name="Google Shape;36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89679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4" name="Google Shape;36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470076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5" name="Google Shape;36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043362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6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Mecánicas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rincipales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1" name="Google Shape;37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7"/>
          <p:cNvSpPr txBox="1"/>
          <p:nvPr/>
        </p:nvSpPr>
        <p:spPr>
          <a:xfrm>
            <a:off x="1809750" y="3889027"/>
            <a:ext cx="857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 lugar de cálculos complejos radiales, verificamos si el centro del aro se sobrepone al eje vertical del poste, otorgando un margen tolerante del 80% de su radio para facilitar la jugabilidad.</a:t>
            </a:r>
            <a:endParaRPr/>
          </a:p>
        </p:txBody>
      </p:sp>
      <p:pic>
        <p:nvPicPr>
          <p:cNvPr descr="image.png" id="373" name="Google Shape;373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57822" y="3006923"/>
            <a:ext cx="6076205" cy="501104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37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Lógica de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etección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9" name="Google Shape;379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8"/>
          <p:cNvSpPr/>
          <p:nvPr/>
        </p:nvSpPr>
        <p:spPr>
          <a:xfrm>
            <a:off x="581025" y="4043362"/>
            <a:ext cx="11029950" cy="5715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8"/>
          <p:cNvSpPr txBox="1"/>
          <p:nvPr/>
        </p:nvSpPr>
        <p:spPr>
          <a:xfrm>
            <a:off x="517605" y="4405312"/>
            <a:ext cx="26636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Ordenar</a:t>
            </a:r>
            <a:endParaRPr/>
          </a:p>
        </p:txBody>
      </p:sp>
      <p:sp>
        <p:nvSpPr>
          <p:cNvPr id="382" name="Google Shape;382;p38"/>
          <p:cNvSpPr txBox="1"/>
          <p:nvPr/>
        </p:nvSpPr>
        <p:spPr>
          <a:xfrm>
            <a:off x="581025" y="4891087"/>
            <a:ext cx="2536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Filtramos todos los aros atrapados de abajo hacia arriba en el array.</a:t>
            </a:r>
            <a:endParaRPr/>
          </a:p>
        </p:txBody>
      </p:sp>
      <p:sp>
        <p:nvSpPr>
          <p:cNvPr id="383" name="Google Shape;383;p38"/>
          <p:cNvSpPr txBox="1"/>
          <p:nvPr/>
        </p:nvSpPr>
        <p:spPr>
          <a:xfrm>
            <a:off x="3348614" y="2195512"/>
            <a:ext cx="26636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Contador</a:t>
            </a:r>
            <a:endParaRPr/>
          </a:p>
        </p:txBody>
      </p:sp>
      <p:sp>
        <p:nvSpPr>
          <p:cNvPr id="384" name="Google Shape;384;p38"/>
          <p:cNvSpPr txBox="1"/>
          <p:nvPr/>
        </p:nvSpPr>
        <p:spPr>
          <a:xfrm>
            <a:off x="3412033" y="2681287"/>
            <a:ext cx="2536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 mapa asigna cuántos elementos hay acumulados en cada poste.</a:t>
            </a:r>
            <a:endParaRPr/>
          </a:p>
        </p:txBody>
      </p:sp>
      <p:sp>
        <p:nvSpPr>
          <p:cNvPr id="385" name="Google Shape;385;p38"/>
          <p:cNvSpPr txBox="1"/>
          <p:nvPr/>
        </p:nvSpPr>
        <p:spPr>
          <a:xfrm>
            <a:off x="6179622" y="4405312"/>
            <a:ext cx="26636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Límite Y</a:t>
            </a:r>
            <a:endParaRPr/>
          </a:p>
        </p:txBody>
      </p:sp>
      <p:sp>
        <p:nvSpPr>
          <p:cNvPr id="386" name="Google Shape;386;p38"/>
          <p:cNvSpPr txBox="1"/>
          <p:nvPr/>
        </p:nvSpPr>
        <p:spPr>
          <a:xfrm>
            <a:off x="6243042" y="4891087"/>
            <a:ext cx="2536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Restamos 20px al suelo base por cada aro contabilizado previamente.</a:t>
            </a:r>
            <a:endParaRPr/>
          </a:p>
        </p:txBody>
      </p:sp>
      <p:sp>
        <p:nvSpPr>
          <p:cNvPr id="387" name="Google Shape;387;p38"/>
          <p:cNvSpPr txBox="1"/>
          <p:nvPr/>
        </p:nvSpPr>
        <p:spPr>
          <a:xfrm>
            <a:off x="9010631" y="2195512"/>
            <a:ext cx="26636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 Detención</a:t>
            </a:r>
            <a:endParaRPr/>
          </a:p>
        </p:txBody>
      </p:sp>
      <p:sp>
        <p:nvSpPr>
          <p:cNvPr id="388" name="Google Shape;388;p38"/>
          <p:cNvSpPr txBox="1"/>
          <p:nvPr/>
        </p:nvSpPr>
        <p:spPr>
          <a:xfrm>
            <a:off x="9074050" y="2681287"/>
            <a:ext cx="2536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alcanzar su límite individual, el aro pierde su velocidad (VY=0).</a:t>
            </a:r>
            <a:endParaRPr/>
          </a:p>
        </p:txBody>
      </p:sp>
      <p:sp>
        <p:nvSpPr>
          <p:cNvPr id="389" name="Google Shape;389;p38"/>
          <p:cNvSpPr/>
          <p:nvPr/>
        </p:nvSpPr>
        <p:spPr>
          <a:xfrm>
            <a:off x="1735112" y="39576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571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8"/>
          <p:cNvSpPr/>
          <p:nvPr/>
        </p:nvSpPr>
        <p:spPr>
          <a:xfrm>
            <a:off x="4566121" y="39576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571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8"/>
          <p:cNvSpPr/>
          <p:nvPr/>
        </p:nvSpPr>
        <p:spPr>
          <a:xfrm>
            <a:off x="7397129" y="39576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571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8"/>
          <p:cNvSpPr/>
          <p:nvPr/>
        </p:nvSpPr>
        <p:spPr>
          <a:xfrm>
            <a:off x="10228138" y="39576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571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8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Algoritmo de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pilamiento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spacial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8" name="Google Shape;398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9" name="Google Shape;399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66987"/>
            <a:ext cx="527685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00" name="Google Shape;400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66987"/>
            <a:ext cx="5276850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9"/>
          <p:cNvSpPr txBox="1"/>
          <p:nvPr/>
        </p:nvSpPr>
        <p:spPr>
          <a:xfrm>
            <a:off x="971550" y="2957512"/>
            <a:ext cx="4720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Estado </a:t>
            </a:r>
            <a:r>
              <a:rPr lang="en-US" sz="225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</a:t>
            </a: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lotante</a:t>
            </a:r>
            <a:endParaRPr/>
          </a:p>
        </p:txBody>
      </p:sp>
      <p:sp>
        <p:nvSpPr>
          <p:cNvPr id="402" name="Google Shape;402;p39"/>
          <p:cNvSpPr txBox="1"/>
          <p:nvPr/>
        </p:nvSpPr>
        <p:spPr>
          <a:xfrm>
            <a:off x="971550" y="3443287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Mientras el aro navega por el agua, se dibuja usando canvas.drawCircle, mostrando la figura de frente al usuario como una esfera plana.</a:t>
            </a:r>
            <a:endParaRPr/>
          </a:p>
        </p:txBody>
      </p:sp>
      <p:sp>
        <p:nvSpPr>
          <p:cNvPr id="403" name="Google Shape;403;p39"/>
          <p:cNvSpPr txBox="1"/>
          <p:nvPr/>
        </p:nvSpPr>
        <p:spPr>
          <a:xfrm>
            <a:off x="6724650" y="2957512"/>
            <a:ext cx="4720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Estado </a:t>
            </a:r>
            <a:r>
              <a:rPr lang="en-US" sz="225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</a:t>
            </a: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trapado</a:t>
            </a:r>
            <a:endParaRPr/>
          </a:p>
        </p:txBody>
      </p:sp>
      <p:sp>
        <p:nvSpPr>
          <p:cNvPr id="404" name="Google Shape;404;p39"/>
          <p:cNvSpPr txBox="1"/>
          <p:nvPr/>
        </p:nvSpPr>
        <p:spPr>
          <a:xfrm>
            <a:off x="6724650" y="3443287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ensartarse, se renderiza con canvas.drawOval aplastando su altura a 20 píxeles. El cerebro lo interpreta como un aro acostado en profundidad sobre la estaca.</a:t>
            </a:r>
            <a:endParaRPr/>
          </a:p>
        </p:txBody>
      </p:sp>
      <p:sp>
        <p:nvSpPr>
          <p:cNvPr id="405" name="Google Shape;405;p39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Falsa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erspectiva (2.5D)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0" name="Google Shape;41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0"/>
          <p:cNvSpPr/>
          <p:nvPr/>
        </p:nvSpPr>
        <p:spPr>
          <a:xfrm>
            <a:off x="5524500" y="2673697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0"/>
          <p:cNvSpPr txBox="1"/>
          <p:nvPr/>
        </p:nvSpPr>
        <p:spPr>
          <a:xfrm>
            <a:off x="1640443" y="3111847"/>
            <a:ext cx="8911113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5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Minijuego 2: Baloncesto</a:t>
            </a:r>
            <a:endParaRPr/>
          </a:p>
        </p:txBody>
      </p:sp>
      <p:sp>
        <p:nvSpPr>
          <p:cNvPr id="413" name="Google Shape;413;p40"/>
          <p:cNvSpPr txBox="1"/>
          <p:nvPr/>
        </p:nvSpPr>
        <p:spPr>
          <a:xfrm>
            <a:off x="3128962" y="4169122"/>
            <a:ext cx="593407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Baloncesto.kt - Mallas, vectores y física correctiva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8" name="Google Shape;41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1"/>
          <p:cNvSpPr txBox="1"/>
          <p:nvPr/>
        </p:nvSpPr>
        <p:spPr>
          <a:xfrm>
            <a:off x="1809750" y="2686347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Las redes no son sprites PNG, sino vectores escalables de Android puramente matemáticos.</a:t>
            </a:r>
            <a:endParaRPr/>
          </a:p>
        </p:txBody>
      </p:sp>
      <p:sp>
        <p:nvSpPr>
          <p:cNvPr id="420" name="Google Shape;420;p41"/>
          <p:cNvSpPr txBox="1"/>
          <p:nvPr/>
        </p:nvSpPr>
        <p:spPr>
          <a:xfrm>
            <a:off x="1809750" y="3594794"/>
            <a:ext cx="904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Usamos la clase Path() para enlazar puntos de coordenadas cartesianas.</a:t>
            </a:r>
            <a:endParaRPr/>
          </a:p>
        </p:txBody>
      </p:sp>
      <p:sp>
        <p:nvSpPr>
          <p:cNvPr id="421" name="Google Shape;421;p41"/>
          <p:cNvSpPr txBox="1"/>
          <p:nvPr/>
        </p:nvSpPr>
        <p:spPr>
          <a:xfrm>
            <a:off x="1809750" y="4168080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 funciones moveTo(x,y) originamos el trazo, y con lineTo(x,y) esculpimos una "U" para simular la malla bajando y estrechándose.</a:t>
            </a:r>
            <a:endParaRPr/>
          </a:p>
        </p:txBody>
      </p:sp>
      <p:pic>
        <p:nvPicPr>
          <p:cNvPr descr="image.png" id="422" name="Google Shape;422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729210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3" name="Google Shape;423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637657"/>
            <a:ext cx="24765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4" name="Google Shape;424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210942"/>
            <a:ext cx="2476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41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Generación de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estas (Path)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0" name="Google Shape;43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2"/>
          <p:cNvSpPr txBox="1"/>
          <p:nvPr/>
        </p:nvSpPr>
        <p:spPr>
          <a:xfrm>
            <a:off x="1979711" y="2052637"/>
            <a:ext cx="8232427" cy="3000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modificador DashPathEffect intercala trazos de tinta sólidos y vacíos, convirtiendo una simple línea rígida en un tejido punteado que emula a la perfección hilos entrelazados.</a:t>
            </a:r>
            <a:endParaRPr/>
          </a:p>
        </p:txBody>
      </p:sp>
      <p:sp>
        <p:nvSpPr>
          <p:cNvPr id="432" name="Google Shape;432;p42"/>
          <p:cNvSpPr txBox="1"/>
          <p:nvPr/>
        </p:nvSpPr>
        <p:spPr>
          <a:xfrm>
            <a:off x="4586138" y="5434012"/>
            <a:ext cx="30194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Configuración del PaintRed</a:t>
            </a:r>
            <a:endParaRPr/>
          </a:p>
        </p:txBody>
      </p:sp>
      <p:sp>
        <p:nvSpPr>
          <p:cNvPr id="433" name="Google Shape;433;p42"/>
          <p:cNvSpPr txBox="1"/>
          <p:nvPr/>
        </p:nvSpPr>
        <p:spPr>
          <a:xfrm>
            <a:off x="1217711" y="2433637"/>
            <a:ext cx="5905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</a:t>
            </a:r>
            <a:endParaRPr/>
          </a:p>
        </p:txBody>
      </p:sp>
      <p:sp>
        <p:nvSpPr>
          <p:cNvPr id="434" name="Google Shape;434;p42"/>
          <p:cNvSpPr txBox="1"/>
          <p:nvPr/>
        </p:nvSpPr>
        <p:spPr>
          <a:xfrm>
            <a:off x="10383590" y="5053012"/>
            <a:ext cx="5905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</a:t>
            </a:r>
            <a:endParaRPr/>
          </a:p>
        </p:txBody>
      </p:sp>
      <p:sp>
        <p:nvSpPr>
          <p:cNvPr id="435" name="Google Shape;435;p42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Efecto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v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isual de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h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ilos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0" name="Google Shape;44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1" name="Google Shape;441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66987"/>
            <a:ext cx="527685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2" name="Google Shape;442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66987"/>
            <a:ext cx="5276850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3"/>
          <p:cNvSpPr txBox="1"/>
          <p:nvPr/>
        </p:nvSpPr>
        <p:spPr>
          <a:xfrm>
            <a:off x="971550" y="2957512"/>
            <a:ext cx="4720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</a:t>
            </a:r>
            <a:r>
              <a:rPr lang="en-US" sz="225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</a:t>
            </a: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efecto </a:t>
            </a:r>
            <a:r>
              <a:rPr lang="en-US" sz="225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</a:t>
            </a: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erfecto</a:t>
            </a:r>
            <a:endParaRPr/>
          </a:p>
        </p:txBody>
      </p:sp>
      <p:sp>
        <p:nvSpPr>
          <p:cNvPr id="444" name="Google Shape;444;p43"/>
          <p:cNvSpPr txBox="1"/>
          <p:nvPr/>
        </p:nvSpPr>
        <p:spPr>
          <a:xfrm>
            <a:off x="971550" y="3443287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 entornos virtuales, si una pelota colisiona EXACTAMENTE centrada sobre un píxel que representa el borde metálico de la canasta, las fuerzas se anulan a 0.</a:t>
            </a:r>
            <a:endParaRPr/>
          </a:p>
        </p:txBody>
      </p:sp>
      <p:sp>
        <p:nvSpPr>
          <p:cNvPr id="445" name="Google Shape;445;p43"/>
          <p:cNvSpPr txBox="1"/>
          <p:nvPr/>
        </p:nvSpPr>
        <p:spPr>
          <a:xfrm>
            <a:off x="6724650" y="2957512"/>
            <a:ext cx="47205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La </a:t>
            </a:r>
            <a:r>
              <a:rPr lang="en-US" sz="225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</a:t>
            </a: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olución </a:t>
            </a:r>
            <a:r>
              <a:rPr lang="en-US" sz="225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</a:t>
            </a: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ctiva</a:t>
            </a:r>
            <a:endParaRPr/>
          </a:p>
        </p:txBody>
      </p:sp>
      <p:sp>
        <p:nvSpPr>
          <p:cNvPr id="446" name="Google Shape;446;p43"/>
          <p:cNvSpPr txBox="1"/>
          <p:nvPr/>
        </p:nvSpPr>
        <p:spPr>
          <a:xfrm>
            <a:off x="6724650" y="3443287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 detectamos colisión superior directa en el borde, forzamos un valor p.vx = 4f o -4f para que la pelota "resbale" obligatoriamente hacia el interior o exterior del aro.</a:t>
            </a:r>
            <a:endParaRPr/>
          </a:p>
        </p:txBody>
      </p:sp>
      <p:sp>
        <p:nvSpPr>
          <p:cNvPr id="447" name="Google Shape;447;p43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Física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nti-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quilibrio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2" name="Google Shape;452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44"/>
          <p:cNvSpPr/>
          <p:nvPr/>
        </p:nvSpPr>
        <p:spPr>
          <a:xfrm>
            <a:off x="5524500" y="2673697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4"/>
          <p:cNvSpPr txBox="1"/>
          <p:nvPr/>
        </p:nvSpPr>
        <p:spPr>
          <a:xfrm>
            <a:off x="2220515" y="3111847"/>
            <a:ext cx="7750968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5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Minijuego 3: Pacman</a:t>
            </a:r>
            <a:endParaRPr/>
          </a:p>
        </p:txBody>
      </p:sp>
      <p:sp>
        <p:nvSpPr>
          <p:cNvPr id="455" name="Google Shape;455;p44"/>
          <p:cNvSpPr txBox="1"/>
          <p:nvPr/>
        </p:nvSpPr>
        <p:spPr>
          <a:xfrm>
            <a:off x="2905125" y="4169122"/>
            <a:ext cx="63817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Pacman.kt - Álgebra matricial y trigonometría aplicada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0" name="Google Shape;46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1" name="Google Shape;461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133600"/>
            <a:ext cx="3486150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2" name="Google Shape;462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133600"/>
            <a:ext cx="3486150" cy="3495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63" name="Google Shape;463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133600"/>
            <a:ext cx="3486150" cy="3495675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45"/>
          <p:cNvSpPr txBox="1"/>
          <p:nvPr/>
        </p:nvSpPr>
        <p:spPr>
          <a:xfrm>
            <a:off x="1303972" y="3390900"/>
            <a:ext cx="20403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Radio </a:t>
            </a:r>
            <a:r>
              <a:rPr lang="en-US" sz="225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</a:t>
            </a: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ngular</a:t>
            </a:r>
            <a:endParaRPr/>
          </a:p>
        </p:txBody>
      </p:sp>
      <p:sp>
        <p:nvSpPr>
          <p:cNvPr id="465" name="Google Shape;465;p45"/>
          <p:cNvSpPr txBox="1"/>
          <p:nvPr/>
        </p:nvSpPr>
        <p:spPr>
          <a:xfrm>
            <a:off x="876300" y="387667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Dibujamos partiendo del meridiano 315 grados y barremos una estela de 270 grados puros.</a:t>
            </a:r>
            <a:endParaRPr/>
          </a:p>
        </p:txBody>
      </p:sp>
      <p:sp>
        <p:nvSpPr>
          <p:cNvPr id="466" name="Google Shape;466;p45"/>
          <p:cNvSpPr txBox="1"/>
          <p:nvPr/>
        </p:nvSpPr>
        <p:spPr>
          <a:xfrm>
            <a:off x="4900850" y="3390900"/>
            <a:ext cx="23904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Oclusión </a:t>
            </a:r>
            <a:r>
              <a:rPr lang="en-US" sz="225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</a:t>
            </a: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ráfica</a:t>
            </a:r>
            <a:endParaRPr/>
          </a:p>
        </p:txBody>
      </p:sp>
      <p:sp>
        <p:nvSpPr>
          <p:cNvPr id="467" name="Google Shape;467;p45"/>
          <p:cNvSpPr txBox="1"/>
          <p:nvPr/>
        </p:nvSpPr>
        <p:spPr>
          <a:xfrm>
            <a:off x="4648200" y="387667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barrer solo 270 grados, excluimos el cuartil superior izquierdo de forma matemática automática.</a:t>
            </a:r>
            <a:endParaRPr/>
          </a:p>
        </p:txBody>
      </p:sp>
      <p:sp>
        <p:nvSpPr>
          <p:cNvPr id="468" name="Google Shape;468;p45"/>
          <p:cNvSpPr txBox="1"/>
          <p:nvPr/>
        </p:nvSpPr>
        <p:spPr>
          <a:xfrm>
            <a:off x="9022794" y="3390900"/>
            <a:ext cx="1690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Boca </a:t>
            </a:r>
            <a:r>
              <a:rPr lang="en-US" sz="2250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</a:t>
            </a: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isual</a:t>
            </a:r>
            <a:endParaRPr/>
          </a:p>
        </p:txBody>
      </p:sp>
      <p:sp>
        <p:nvSpPr>
          <p:cNvPr id="469" name="Google Shape;469;p45"/>
          <p:cNvSpPr txBox="1"/>
          <p:nvPr/>
        </p:nvSpPr>
        <p:spPr>
          <a:xfrm>
            <a:off x="8420100" y="3876675"/>
            <a:ext cx="2895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Esta carencia de dibujo simula la figura geométrica clásica reconocible del personaje devorador.</a:t>
            </a:r>
            <a:endParaRPr/>
          </a:p>
        </p:txBody>
      </p:sp>
      <p:pic>
        <p:nvPicPr>
          <p:cNvPr descr="image.png" id="470" name="Google Shape;470;p4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2162" y="2571750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1" name="Google Shape;471;p4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00737" y="2571750"/>
            <a:ext cx="3905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72" name="Google Shape;472;p4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72625" y="2571750"/>
            <a:ext cx="5905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473" name="Google Shape;473;p45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Construyendo el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d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evorador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8" name="Google Shape;47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6"/>
          <p:cNvSpPr txBox="1"/>
          <p:nvPr/>
        </p:nvSpPr>
        <p:spPr>
          <a:xfrm>
            <a:off x="1809750" y="3986510"/>
            <a:ext cx="857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En lugar de cruces de cajas rectangulares, calculamos la longitud de la hipotenusa (distancia pura) entre los núcleos de ambas circunferencias para establecer colisiones esféricas inmaculadas.</a:t>
            </a:r>
            <a:endParaRPr/>
          </a:p>
        </p:txBody>
      </p:sp>
      <p:pic>
        <p:nvPicPr>
          <p:cNvPr descr="image.png" id="480" name="Google Shape;480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42020" y="2909441"/>
            <a:ext cx="8907958" cy="69606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6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Teorema de Pitágoras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specífico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86" name="Google Shape;48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7"/>
          <p:cNvSpPr txBox="1"/>
          <p:nvPr/>
        </p:nvSpPr>
        <p:spPr>
          <a:xfrm>
            <a:off x="1809750" y="2399704"/>
            <a:ext cx="904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 una pieza de "comida" toca la garganta, su atributo p.atrapado = true.</a:t>
            </a:r>
            <a:endParaRPr/>
          </a:p>
        </p:txBody>
      </p:sp>
      <p:sp>
        <p:nvSpPr>
          <p:cNvPr id="488" name="Google Shape;488;p47"/>
          <p:cNvSpPr txBox="1"/>
          <p:nvPr/>
        </p:nvSpPr>
        <p:spPr>
          <a:xfrm>
            <a:off x="1809750" y="2972990"/>
            <a:ext cx="904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Su motor inercial (gravedad/corriente) se desactiva instantáneamente: vx=0, vy=0.</a:t>
            </a:r>
            <a:endParaRPr/>
          </a:p>
        </p:txBody>
      </p:sp>
      <p:sp>
        <p:nvSpPr>
          <p:cNvPr id="489" name="Google Shape;489;p47"/>
          <p:cNvSpPr txBox="1"/>
          <p:nvPr/>
        </p:nvSpPr>
        <p:spPr>
          <a:xfrm>
            <a:off x="1809750" y="3546276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Lerp (Linear Interpolation):</a:t>
            </a: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Actualizamos su posición multiplicando por 0.8 la distancia al centro.</a:t>
            </a:r>
            <a:endParaRPr/>
          </a:p>
        </p:txBody>
      </p:sp>
      <p:sp>
        <p:nvSpPr>
          <p:cNvPr id="490" name="Google Shape;490;p47"/>
          <p:cNvSpPr txBox="1"/>
          <p:nvPr/>
        </p:nvSpPr>
        <p:spPr>
          <a:xfrm>
            <a:off x="1809750" y="4454723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El efecto visual simula ser digerido fluidamente, arrastrándose sin cortes abruptos hacia el estómago.</a:t>
            </a:r>
            <a:endParaRPr/>
          </a:p>
        </p:txBody>
      </p:sp>
      <p:pic>
        <p:nvPicPr>
          <p:cNvPr descr="image.png" id="491" name="Google Shape;491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442567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2" name="Google Shape;492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015853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3" name="Google Shape;493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589139"/>
            <a:ext cx="2762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94" name="Google Shape;494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497585"/>
            <a:ext cx="2762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47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Ingesta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onstante (Interpolación Lerp)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0" name="Google Shape;500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48"/>
          <p:cNvSpPr txBox="1"/>
          <p:nvPr/>
        </p:nvSpPr>
        <p:spPr>
          <a:xfrm>
            <a:off x="581025" y="2581275"/>
            <a:ext cx="52768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0" u="none" cap="none" strike="noStrike">
                <a:solidFill>
                  <a:srgbClr val="34D399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Nx, Ny</a:t>
            </a:r>
            <a:endParaRPr/>
          </a:p>
        </p:txBody>
      </p:sp>
      <p:sp>
        <p:nvSpPr>
          <p:cNvPr id="502" name="Google Shape;502;p48"/>
          <p:cNvSpPr txBox="1"/>
          <p:nvPr/>
        </p:nvSpPr>
        <p:spPr>
          <a:xfrm>
            <a:off x="581025" y="4200525"/>
            <a:ext cx="52768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Valores entre 0 y 1</a:t>
            </a:r>
            <a:endParaRPr/>
          </a:p>
        </p:txBody>
      </p:sp>
      <p:sp>
        <p:nvSpPr>
          <p:cNvPr id="503" name="Google Shape;503;p48"/>
          <p:cNvSpPr txBox="1"/>
          <p:nvPr/>
        </p:nvSpPr>
        <p:spPr>
          <a:xfrm>
            <a:off x="6334125" y="2581275"/>
            <a:ext cx="55406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Escupir el Objeto Invasor</a:t>
            </a:r>
            <a:endParaRPr/>
          </a:p>
        </p:txBody>
      </p:sp>
      <p:sp>
        <p:nvSpPr>
          <p:cNvPr id="504" name="Google Shape;504;p48"/>
          <p:cNvSpPr txBox="1"/>
          <p:nvPr/>
        </p:nvSpPr>
        <p:spPr>
          <a:xfrm>
            <a:off x="6334125" y="3067050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chocar por la espalda curva, se calcula dx / distancia para convertir magnitudes desproporcionadas en Vectores Unitarios puros.</a:t>
            </a:r>
            <a:endParaRPr/>
          </a:p>
        </p:txBody>
      </p:sp>
      <p:sp>
        <p:nvSpPr>
          <p:cNvPr id="505" name="Google Shape;505;p48"/>
          <p:cNvSpPr txBox="1"/>
          <p:nvPr/>
        </p:nvSpPr>
        <p:spPr>
          <a:xfrm>
            <a:off x="6334125" y="4124325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Multiplicamos este valor limpio por la fuerza deseada para repeler la comida en la misma dirección de impacto con total precisión hiper-realista.</a:t>
            </a:r>
            <a:endParaRPr/>
          </a:p>
        </p:txBody>
      </p:sp>
      <p:sp>
        <p:nvSpPr>
          <p:cNvPr id="506" name="Google Shape;506;p48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Normalización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1" name="Google Shape;51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9"/>
          <p:cNvSpPr/>
          <p:nvPr/>
        </p:nvSpPr>
        <p:spPr>
          <a:xfrm>
            <a:off x="5524500" y="2673697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9"/>
          <p:cNvSpPr txBox="1"/>
          <p:nvPr/>
        </p:nvSpPr>
        <p:spPr>
          <a:xfrm>
            <a:off x="2055494" y="3111847"/>
            <a:ext cx="8081010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5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Minijuego 4: Pirámide</a:t>
            </a:r>
            <a:endParaRPr/>
          </a:p>
        </p:txBody>
      </p:sp>
      <p:sp>
        <p:nvSpPr>
          <p:cNvPr id="514" name="Google Shape;514;p49"/>
          <p:cNvSpPr txBox="1"/>
          <p:nvPr/>
        </p:nvSpPr>
        <p:spPr>
          <a:xfrm>
            <a:off x="3362325" y="4169122"/>
            <a:ext cx="5467350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Piramide.kt - Algoritmos de equilibrio dinámico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19" name="Google Shape;51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0" name="Google Shape;520;p50"/>
          <p:cNvSpPr txBox="1"/>
          <p:nvPr/>
        </p:nvSpPr>
        <p:spPr>
          <a:xfrm>
            <a:off x="1809750" y="2567285"/>
            <a:ext cx="904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 empleamos clases abstractas nativas de polígonos, modelamos a mano.</a:t>
            </a:r>
            <a:endParaRPr/>
          </a:p>
        </p:txBody>
      </p:sp>
      <p:sp>
        <p:nvSpPr>
          <p:cNvPr id="521" name="Google Shape;521;p50"/>
          <p:cNvSpPr txBox="1"/>
          <p:nvPr/>
        </p:nvSpPr>
        <p:spPr>
          <a:xfrm>
            <a:off x="1809750" y="3140571"/>
            <a:ext cx="904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 vértice aguja cima norte (p.y - p.radio).</a:t>
            </a:r>
            <a:endParaRPr/>
          </a:p>
        </p:txBody>
      </p:sp>
      <p:sp>
        <p:nvSpPr>
          <p:cNvPr id="522" name="Google Shape;522;p50"/>
          <p:cNvSpPr txBox="1"/>
          <p:nvPr/>
        </p:nvSpPr>
        <p:spPr>
          <a:xfrm>
            <a:off x="1809750" y="3713857"/>
            <a:ext cx="90487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Dos zapatas de carga sur (izquierda y derecha sumando p.radio).</a:t>
            </a:r>
            <a:endParaRPr/>
          </a:p>
        </p:txBody>
      </p:sp>
      <p:sp>
        <p:nvSpPr>
          <p:cNvPr id="523" name="Google Shape;523;p50"/>
          <p:cNvSpPr txBox="1"/>
          <p:nvPr/>
        </p:nvSpPr>
        <p:spPr>
          <a:xfrm>
            <a:off x="1809750" y="4287142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Usamos la función matricial path.close() para fusionar el final y el origen solidificando el recinto de la variable Paint.</a:t>
            </a:r>
            <a:endParaRPr/>
          </a:p>
        </p:txBody>
      </p:sp>
      <p:pic>
        <p:nvPicPr>
          <p:cNvPr descr="image.png" id="524" name="Google Shape;524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610147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5" name="Google Shape;525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183433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6" name="Google Shape;526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756719"/>
            <a:ext cx="190500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27" name="Google Shape;527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330005"/>
            <a:ext cx="1905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50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Triángulos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rocedurales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33" name="Google Shape;53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51"/>
          <p:cNvSpPr/>
          <p:nvPr/>
        </p:nvSpPr>
        <p:spPr>
          <a:xfrm>
            <a:off x="581025" y="4043362"/>
            <a:ext cx="11029950" cy="57150"/>
          </a:xfrm>
          <a:prstGeom prst="roundRect">
            <a:avLst>
              <a:gd fmla="val 50000" name="adj"/>
            </a:avLst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1"/>
          <p:cNvSpPr txBox="1"/>
          <p:nvPr/>
        </p:nvSpPr>
        <p:spPr>
          <a:xfrm>
            <a:off x="517605" y="4405312"/>
            <a:ext cx="26636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Análisis Y</a:t>
            </a:r>
            <a:endParaRPr/>
          </a:p>
        </p:txBody>
      </p:sp>
      <p:sp>
        <p:nvSpPr>
          <p:cNvPr id="536" name="Google Shape;536;p51"/>
          <p:cNvSpPr txBox="1"/>
          <p:nvPr/>
        </p:nvSpPr>
        <p:spPr>
          <a:xfrm>
            <a:off x="581025" y="4891087"/>
            <a:ext cx="2536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Detectamos el aterrizaje horizontal rozando el tablón.</a:t>
            </a:r>
            <a:endParaRPr/>
          </a:p>
        </p:txBody>
      </p:sp>
      <p:sp>
        <p:nvSpPr>
          <p:cNvPr id="537" name="Google Shape;537;p51"/>
          <p:cNvSpPr txBox="1"/>
          <p:nvPr/>
        </p:nvSpPr>
        <p:spPr>
          <a:xfrm>
            <a:off x="3348614" y="2195512"/>
            <a:ext cx="26636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Plomada X</a:t>
            </a:r>
            <a:endParaRPr/>
          </a:p>
        </p:txBody>
      </p:sp>
      <p:sp>
        <p:nvSpPr>
          <p:cNvPr id="538" name="Google Shape;538;p51"/>
          <p:cNvSpPr txBox="1"/>
          <p:nvPr/>
        </p:nvSpPr>
        <p:spPr>
          <a:xfrm>
            <a:off x="3412033" y="2681287"/>
            <a:ext cx="2536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Verificamos si el vientre nuclear recae dentro del perímetro firme.</a:t>
            </a:r>
            <a:endParaRPr/>
          </a:p>
        </p:txBody>
      </p:sp>
      <p:sp>
        <p:nvSpPr>
          <p:cNvPr id="539" name="Google Shape;539;p51"/>
          <p:cNvSpPr txBox="1"/>
          <p:nvPr/>
        </p:nvSpPr>
        <p:spPr>
          <a:xfrm>
            <a:off x="6179622" y="4405312"/>
            <a:ext cx="2663614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Soporte Marginal</a:t>
            </a:r>
            <a:endParaRPr/>
          </a:p>
        </p:txBody>
      </p:sp>
      <p:sp>
        <p:nvSpPr>
          <p:cNvPr id="540" name="Google Shape;540;p51"/>
          <p:cNvSpPr txBox="1"/>
          <p:nvPr/>
        </p:nvSpPr>
        <p:spPr>
          <a:xfrm>
            <a:off x="6243042" y="5233987"/>
            <a:ext cx="2536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 yace fuera pero la punta roza, provocamos desliz inercial artificial.</a:t>
            </a:r>
            <a:endParaRPr/>
          </a:p>
        </p:txBody>
      </p:sp>
      <p:sp>
        <p:nvSpPr>
          <p:cNvPr id="541" name="Google Shape;541;p51"/>
          <p:cNvSpPr txBox="1"/>
          <p:nvPr/>
        </p:nvSpPr>
        <p:spPr>
          <a:xfrm>
            <a:off x="9010631" y="2195512"/>
            <a:ext cx="26636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4. Castigo</a:t>
            </a:r>
            <a:endParaRPr/>
          </a:p>
        </p:txBody>
      </p:sp>
      <p:sp>
        <p:nvSpPr>
          <p:cNvPr id="542" name="Google Shape;542;p51"/>
          <p:cNvSpPr txBox="1"/>
          <p:nvPr/>
        </p:nvSpPr>
        <p:spPr>
          <a:xfrm>
            <a:off x="9074050" y="2681287"/>
            <a:ext cx="25367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figura patina (p.vx += 4f) derrapando hacia la fosa natural.</a:t>
            </a:r>
            <a:endParaRPr/>
          </a:p>
        </p:txBody>
      </p:sp>
      <p:sp>
        <p:nvSpPr>
          <p:cNvPr id="543" name="Google Shape;543;p51"/>
          <p:cNvSpPr/>
          <p:nvPr/>
        </p:nvSpPr>
        <p:spPr>
          <a:xfrm>
            <a:off x="1735112" y="39576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571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51"/>
          <p:cNvSpPr/>
          <p:nvPr/>
        </p:nvSpPr>
        <p:spPr>
          <a:xfrm>
            <a:off x="4566121" y="39576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571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51"/>
          <p:cNvSpPr/>
          <p:nvPr/>
        </p:nvSpPr>
        <p:spPr>
          <a:xfrm>
            <a:off x="7397129" y="39576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571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51"/>
          <p:cNvSpPr/>
          <p:nvPr/>
        </p:nvSpPr>
        <p:spPr>
          <a:xfrm>
            <a:off x="10228138" y="39576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571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51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Arquitectura: Desequilibrio (Edge-Sliding)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52" name="Google Shape;552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52"/>
          <p:cNvSpPr txBox="1"/>
          <p:nvPr/>
        </p:nvSpPr>
        <p:spPr>
          <a:xfrm>
            <a:off x="1809750" y="3874740"/>
            <a:ext cx="8572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Cuando el prisma confirma su plomada óptima sobre el andamio, reducimos drásticamente su empuje lateral en un 50% continuo, forzando un acoplamiento rápido, libre de patinaje inverosímil (fricción sólida contundente).</a:t>
            </a:r>
            <a:endParaRPr/>
          </a:p>
        </p:txBody>
      </p:sp>
      <p:pic>
        <p:nvPicPr>
          <p:cNvPr descr="image.png" id="554" name="Google Shape;554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2915" y="3021210"/>
            <a:ext cx="3166169" cy="472529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52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Algoritmo de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f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ricción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0" name="Google Shape;560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53"/>
          <p:cNvSpPr/>
          <p:nvPr/>
        </p:nvSpPr>
        <p:spPr>
          <a:xfrm>
            <a:off x="5524500" y="2673697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53"/>
          <p:cNvSpPr txBox="1"/>
          <p:nvPr/>
        </p:nvSpPr>
        <p:spPr>
          <a:xfrm>
            <a:off x="2590561" y="3111847"/>
            <a:ext cx="7010876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5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Minijuego 5: Pesca</a:t>
            </a:r>
            <a:endParaRPr/>
          </a:p>
        </p:txBody>
      </p:sp>
      <p:sp>
        <p:nvSpPr>
          <p:cNvPr id="563" name="Google Shape;563;p53"/>
          <p:cNvSpPr txBox="1"/>
          <p:nvPr/>
        </p:nvSpPr>
        <p:spPr>
          <a:xfrm>
            <a:off x="3100387" y="4169122"/>
            <a:ext cx="59912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Pesca.kt - Proximidad Mágica y Nodos Magnéticos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68" name="Google Shape;568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69" name="Google Shape;569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86000"/>
            <a:ext cx="5372100" cy="319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0" name="Google Shape;570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286000"/>
            <a:ext cx="5372100" cy="3190875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4"/>
          <p:cNvSpPr txBox="1"/>
          <p:nvPr/>
        </p:nvSpPr>
        <p:spPr>
          <a:xfrm>
            <a:off x="2051923" y="3543300"/>
            <a:ext cx="243030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Radio Expandido</a:t>
            </a:r>
            <a:endParaRPr/>
          </a:p>
        </p:txBody>
      </p:sp>
      <p:sp>
        <p:nvSpPr>
          <p:cNvPr id="572" name="Google Shape;572;p54"/>
          <p:cNvSpPr txBox="1"/>
          <p:nvPr/>
        </p:nvSpPr>
        <p:spPr>
          <a:xfrm>
            <a:off x="876300" y="4029075"/>
            <a:ext cx="47815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colisión no busca tocar el píxel del gancho, exige entrar en una burbuja tolerante artificial (+35px de holgura).</a:t>
            </a:r>
            <a:endParaRPr/>
          </a:p>
        </p:txBody>
      </p:sp>
      <p:sp>
        <p:nvSpPr>
          <p:cNvPr id="573" name="Google Shape;573;p54"/>
          <p:cNvSpPr txBox="1"/>
          <p:nvPr/>
        </p:nvSpPr>
        <p:spPr>
          <a:xfrm>
            <a:off x="7969805" y="3543300"/>
            <a:ext cx="191023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Fuerza Ciega</a:t>
            </a:r>
            <a:endParaRPr/>
          </a:p>
        </p:txBody>
      </p:sp>
      <p:sp>
        <p:nvSpPr>
          <p:cNvPr id="574" name="Google Shape;574;p54"/>
          <p:cNvSpPr txBox="1"/>
          <p:nvPr/>
        </p:nvSpPr>
        <p:spPr>
          <a:xfrm>
            <a:off x="6534150" y="4029075"/>
            <a:ext cx="47815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Sin importar el vector original o agresivo de nado, cruzar el perímetro virtual sella la captura ineludiblemente.</a:t>
            </a:r>
            <a:endParaRPr/>
          </a:p>
        </p:txBody>
      </p:sp>
      <p:pic>
        <p:nvPicPr>
          <p:cNvPr descr="image.png" id="575" name="Google Shape;575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971800" y="2724150"/>
            <a:ext cx="5905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76" name="Google Shape;576;p5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96325" y="2724150"/>
            <a:ext cx="45720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54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Enganches por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p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roximidad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82" name="Google Shape;58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3" name="Google Shape;583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66987"/>
            <a:ext cx="5276850" cy="2628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584" name="Google Shape;584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66987"/>
            <a:ext cx="5276850" cy="26289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55"/>
          <p:cNvSpPr txBox="1"/>
          <p:nvPr/>
        </p:nvSpPr>
        <p:spPr>
          <a:xfrm>
            <a:off x="971550" y="2957512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Problema de Anclaje</a:t>
            </a:r>
            <a:endParaRPr/>
          </a:p>
        </p:txBody>
      </p:sp>
      <p:sp>
        <p:nvSpPr>
          <p:cNvPr id="586" name="Google Shape;586;p55"/>
          <p:cNvSpPr txBox="1"/>
          <p:nvPr/>
        </p:nvSpPr>
        <p:spPr>
          <a:xfrm>
            <a:off x="971550" y="3443287"/>
            <a:ext cx="4495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Una vez un pez es capturado y validado lógicamente, necesita fijar su sprite en Y=tope, y alinearse en X con la caña que le haya atrapado.</a:t>
            </a:r>
            <a:endParaRPr/>
          </a:p>
        </p:txBody>
      </p:sp>
      <p:sp>
        <p:nvSpPr>
          <p:cNvPr id="587" name="Google Shape;587;p55"/>
          <p:cNvSpPr txBox="1"/>
          <p:nvPr/>
        </p:nvSpPr>
        <p:spPr>
          <a:xfrm>
            <a:off x="6724650" y="2957512"/>
            <a:ext cx="472059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minByOrNull</a:t>
            </a:r>
            <a:endParaRPr/>
          </a:p>
        </p:txBody>
      </p:sp>
      <p:sp>
        <p:nvSpPr>
          <p:cNvPr id="588" name="Google Shape;588;p55"/>
          <p:cNvSpPr txBox="1"/>
          <p:nvPr/>
        </p:nvSpPr>
        <p:spPr>
          <a:xfrm>
            <a:off x="6724650" y="3443287"/>
            <a:ext cx="449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función funcional idiomática de Kotlin mapea todas las cuerdas, calculando el valor absoluto de lejanía (Math.abs) y amarrándose al menor arrojado en un solo hilo léxico potente.</a:t>
            </a:r>
            <a:endParaRPr/>
          </a:p>
        </p:txBody>
      </p:sp>
      <p:sp>
        <p:nvSpPr>
          <p:cNvPr id="589" name="Google Shape;589;p55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Optimizando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a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lgoritmos en Kotlin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94" name="Google Shape;594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5" name="Google Shape;595;p56"/>
          <p:cNvSpPr/>
          <p:nvPr/>
        </p:nvSpPr>
        <p:spPr>
          <a:xfrm>
            <a:off x="5524500" y="2673697"/>
            <a:ext cx="11430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56"/>
          <p:cNvSpPr txBox="1"/>
          <p:nvPr/>
        </p:nvSpPr>
        <p:spPr>
          <a:xfrm>
            <a:off x="2785586" y="3111847"/>
            <a:ext cx="6620827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5" u="none" cap="none" strike="noStrike">
                <a:solidFill>
                  <a:srgbClr val="F8FAFC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Lecciones Finales</a:t>
            </a:r>
            <a:endParaRPr/>
          </a:p>
        </p:txBody>
      </p:sp>
      <p:sp>
        <p:nvSpPr>
          <p:cNvPr id="597" name="Google Shape;597;p56"/>
          <p:cNvSpPr txBox="1"/>
          <p:nvPr/>
        </p:nvSpPr>
        <p:spPr>
          <a:xfrm>
            <a:off x="2681287" y="4169122"/>
            <a:ext cx="68294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Resumen de aprendizaje e implementación de rendimiento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02" name="Google Shape;602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03" name="Google Shape;603;p57"/>
          <p:cNvGraphicFramePr/>
          <p:nvPr/>
        </p:nvGraphicFramePr>
        <p:xfrm>
          <a:off x="581025" y="212318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{5D50FB1E-381E-4140-9A19-7F1B9A2CA16E}</a:tableStyleId>
              </a:tblPr>
              <a:tblGrid>
                <a:gridCol w="6050300"/>
                <a:gridCol w="4960600"/>
              </a:tblGrid>
              <a:tr h="70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Concepto Principal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650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Implementación / Fichero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0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Interoperabilidad y UI Declarativa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MainActivity.kt (Jetpack Compose)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Hilos Concurrentes &amp; Sensores hardware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Base.kt (Thread &amp; SensorManager)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  <a:tr h="70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Generación Procedural &amp; Nodos Proximidad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Pesca.kt y Piramide.kt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03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Lógica Vectorial Anti-Bloqueos Matemáticos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94A3B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Baloncesto.kt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604" name="Google Shape;604;p57"/>
          <p:cNvSpPr/>
          <p:nvPr/>
        </p:nvSpPr>
        <p:spPr>
          <a:xfrm>
            <a:off x="590550" y="2848867"/>
            <a:ext cx="60503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57"/>
          <p:cNvSpPr/>
          <p:nvPr/>
        </p:nvSpPr>
        <p:spPr>
          <a:xfrm>
            <a:off x="6640859" y="2848867"/>
            <a:ext cx="49605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57"/>
          <p:cNvSpPr/>
          <p:nvPr/>
        </p:nvSpPr>
        <p:spPr>
          <a:xfrm>
            <a:off x="590550" y="3544192"/>
            <a:ext cx="60503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57"/>
          <p:cNvSpPr/>
          <p:nvPr/>
        </p:nvSpPr>
        <p:spPr>
          <a:xfrm>
            <a:off x="6640859" y="3544192"/>
            <a:ext cx="49605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57"/>
          <p:cNvSpPr/>
          <p:nvPr/>
        </p:nvSpPr>
        <p:spPr>
          <a:xfrm>
            <a:off x="590550" y="4239517"/>
            <a:ext cx="60503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57"/>
          <p:cNvSpPr/>
          <p:nvPr/>
        </p:nvSpPr>
        <p:spPr>
          <a:xfrm>
            <a:off x="6640859" y="4239517"/>
            <a:ext cx="49605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57"/>
          <p:cNvSpPr/>
          <p:nvPr/>
        </p:nvSpPr>
        <p:spPr>
          <a:xfrm>
            <a:off x="590550" y="4934842"/>
            <a:ext cx="60503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1" name="Google Shape;611;p57"/>
          <p:cNvSpPr/>
          <p:nvPr/>
        </p:nvSpPr>
        <p:spPr>
          <a:xfrm>
            <a:off x="6640859" y="4934842"/>
            <a:ext cx="496059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57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Mapeo Conceptual del Proyecto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17" name="Google Shape;61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18" name="Google Shape;618;p58"/>
          <p:cNvSpPr txBox="1"/>
          <p:nvPr/>
        </p:nvSpPr>
        <p:spPr>
          <a:xfrm>
            <a:off x="1979711" y="2052637"/>
            <a:ext cx="8232427" cy="3000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El interior del método Draw no debe contener jamás llamadas a instanciadores genéricos como `val path = Path()`. Resiste al GC precalculando tu memoria fuera de la matriz iterativa.</a:t>
            </a:r>
            <a:endParaRPr/>
          </a:p>
        </p:txBody>
      </p:sp>
      <p:sp>
        <p:nvSpPr>
          <p:cNvPr id="619" name="Google Shape;619;p58"/>
          <p:cNvSpPr txBox="1"/>
          <p:nvPr/>
        </p:nvSpPr>
        <p:spPr>
          <a:xfrm>
            <a:off x="4071788" y="5434012"/>
            <a:ext cx="40481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4D39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Clean Architecture en Android Views</a:t>
            </a:r>
            <a:endParaRPr/>
          </a:p>
        </p:txBody>
      </p:sp>
      <p:sp>
        <p:nvSpPr>
          <p:cNvPr id="620" name="Google Shape;620;p58"/>
          <p:cNvSpPr txBox="1"/>
          <p:nvPr/>
        </p:nvSpPr>
        <p:spPr>
          <a:xfrm>
            <a:off x="1217711" y="2433637"/>
            <a:ext cx="5905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</a:t>
            </a:r>
            <a:endParaRPr/>
          </a:p>
        </p:txBody>
      </p:sp>
      <p:sp>
        <p:nvSpPr>
          <p:cNvPr id="621" name="Google Shape;621;p58"/>
          <p:cNvSpPr txBox="1"/>
          <p:nvPr/>
        </p:nvSpPr>
        <p:spPr>
          <a:xfrm>
            <a:off x="10383590" y="5053012"/>
            <a:ext cx="590550" cy="1381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334155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"</a:t>
            </a:r>
            <a:endParaRPr/>
          </a:p>
        </p:txBody>
      </p:sp>
      <p:sp>
        <p:nvSpPr>
          <p:cNvPr id="622" name="Google Shape;622;p58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Regla de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o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ro en 2D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27" name="Google Shape;62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28" name="Google Shape;628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85900"/>
            <a:ext cx="11029950" cy="479107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59"/>
          <p:cNvSpPr txBox="1"/>
          <p:nvPr/>
        </p:nvSpPr>
        <p:spPr>
          <a:xfrm>
            <a:off x="581025" y="4243387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 evitar el 'Garbage Collector', el teléfono mantiene holgadamente un rango por debajo de la exigencia canónica de los 16.6 milisegundos por renderizado (Sostenibilidad de 60Hz Puros).</a:t>
            </a:r>
            <a:endParaRPr/>
          </a:p>
        </p:txBody>
      </p:sp>
      <p:sp>
        <p:nvSpPr>
          <p:cNvPr id="630" name="Google Shape;630;p59"/>
          <p:cNvSpPr txBox="1"/>
          <p:nvPr/>
        </p:nvSpPr>
        <p:spPr>
          <a:xfrm>
            <a:off x="581025" y="581025"/>
            <a:ext cx="11581447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Coste de Computación Frame-Time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93B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635" name="Google Shape;63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60"/>
          <p:cNvSpPr txBox="1"/>
          <p:nvPr/>
        </p:nvSpPr>
        <p:spPr>
          <a:xfrm>
            <a:off x="1809750" y="2518767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Construir un motor físico personalizado enseña a deconstruir vectores matemáticos sobre píxeles.</a:t>
            </a:r>
            <a:endParaRPr/>
          </a:p>
        </p:txBody>
      </p:sp>
      <p:sp>
        <p:nvSpPr>
          <p:cNvPr id="637" name="Google Shape;637;p60"/>
          <p:cNvSpPr txBox="1"/>
          <p:nvPr/>
        </p:nvSpPr>
        <p:spPr>
          <a:xfrm>
            <a:off x="1809750" y="3427214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La división en clases derivadas para Minijuegos mantiene el acoplamiento mínimo y un código DRY (Don't Repeat Yourself).</a:t>
            </a:r>
            <a:endParaRPr/>
          </a:p>
        </p:txBody>
      </p:sp>
      <p:sp>
        <p:nvSpPr>
          <p:cNvPr id="638" name="Google Shape;638;p60"/>
          <p:cNvSpPr txBox="1"/>
          <p:nvPr/>
        </p:nvSpPr>
        <p:spPr>
          <a:xfrm>
            <a:off x="1809750" y="4335660"/>
            <a:ext cx="90487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Los gráficos Shaders nativos consumen infinitamente menos memoria RAM que texturas pesadas (Bitmaps o PNGs empaquetados).</a:t>
            </a:r>
            <a:endParaRPr/>
          </a:p>
        </p:txBody>
      </p:sp>
      <p:pic>
        <p:nvPicPr>
          <p:cNvPr descr="image.png" id="639" name="Google Shape;639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2561629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0" name="Google Shape;640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3470076"/>
            <a:ext cx="31432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641" name="Google Shape;641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3500" y="4378523"/>
            <a:ext cx="314325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642" name="Google Shape;642;p60"/>
          <p:cNvSpPr txBox="1"/>
          <p:nvPr/>
        </p:nvSpPr>
        <p:spPr>
          <a:xfrm>
            <a:off x="581025" y="581025"/>
            <a:ext cx="115815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Conclusiones </a:t>
            </a:r>
            <a:r>
              <a:rPr lang="en-US" sz="3375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c</a:t>
            </a:r>
            <a:r>
              <a:rPr b="0" i="0" lang="en-US" sz="3375" u="none" cap="none" strike="noStrike">
                <a:solidFill>
                  <a:srgbClr val="38BDF8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lave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