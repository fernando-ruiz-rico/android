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y="6858000" cx="12192000"/>
  <p:notesSz cx="6858000" cy="9144000"/>
  <p:embeddedFontLst>
    <p:embeddedFont>
      <p:font typeface="Inter Light"/>
      <p:regular r:id="rId36"/>
      <p:bold r:id="rId37"/>
      <p:italic r:id="rId38"/>
      <p:boldItalic r:id="rId39"/>
    </p:embeddedFont>
    <p:embeddedFont>
      <p:font typeface="Poppins"/>
      <p:regular r:id="rId40"/>
      <p:bold r:id="rId41"/>
      <p:italic r:id="rId42"/>
      <p:boldItalic r:id="rId43"/>
    </p:embeddedFont>
    <p:embeddedFont>
      <p:font typeface="Inter"/>
      <p:regular r:id="rId44"/>
      <p:bold r:id="rId45"/>
      <p:italic r:id="rId46"/>
      <p:boldItalic r:id="rId4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C3C6DC1-17D5-4CF7-A57A-4E69DF0DC0EE}">
  <a:tblStyle styleId="{AC3C6DC1-17D5-4CF7-A57A-4E69DF0DC0EE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Poppins-regular.fntdata"/><Relationship Id="rId20" Type="http://schemas.openxmlformats.org/officeDocument/2006/relationships/slide" Target="slides/slide14.xml"/><Relationship Id="rId42" Type="http://schemas.openxmlformats.org/officeDocument/2006/relationships/font" Target="fonts/Poppins-italic.fntdata"/><Relationship Id="rId41" Type="http://schemas.openxmlformats.org/officeDocument/2006/relationships/font" Target="fonts/Poppins-bold.fntdata"/><Relationship Id="rId22" Type="http://schemas.openxmlformats.org/officeDocument/2006/relationships/slide" Target="slides/slide16.xml"/><Relationship Id="rId44" Type="http://schemas.openxmlformats.org/officeDocument/2006/relationships/font" Target="fonts/Inter-regular.fntdata"/><Relationship Id="rId21" Type="http://schemas.openxmlformats.org/officeDocument/2006/relationships/slide" Target="slides/slide15.xml"/><Relationship Id="rId43" Type="http://schemas.openxmlformats.org/officeDocument/2006/relationships/font" Target="fonts/Poppins-boldItalic.fntdata"/><Relationship Id="rId24" Type="http://schemas.openxmlformats.org/officeDocument/2006/relationships/slide" Target="slides/slide18.xml"/><Relationship Id="rId46" Type="http://schemas.openxmlformats.org/officeDocument/2006/relationships/font" Target="fonts/Inter-italic.fntdata"/><Relationship Id="rId23" Type="http://schemas.openxmlformats.org/officeDocument/2006/relationships/slide" Target="slides/slide17.xml"/><Relationship Id="rId45" Type="http://schemas.openxmlformats.org/officeDocument/2006/relationships/font" Target="fonts/Inter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47" Type="http://schemas.openxmlformats.org/officeDocument/2006/relationships/font" Target="fonts/Inter-boldItalic.fntdata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font" Target="fonts/InterLight-bold.fntdata"/><Relationship Id="rId14" Type="http://schemas.openxmlformats.org/officeDocument/2006/relationships/slide" Target="slides/slide8.xml"/><Relationship Id="rId36" Type="http://schemas.openxmlformats.org/officeDocument/2006/relationships/font" Target="fonts/InterLight-regular.fntdata"/><Relationship Id="rId17" Type="http://schemas.openxmlformats.org/officeDocument/2006/relationships/slide" Target="slides/slide11.xml"/><Relationship Id="rId39" Type="http://schemas.openxmlformats.org/officeDocument/2006/relationships/font" Target="fonts/InterLight-boldItalic.fntdata"/><Relationship Id="rId16" Type="http://schemas.openxmlformats.org/officeDocument/2006/relationships/slide" Target="slides/slide10.xml"/><Relationship Id="rId38" Type="http://schemas.openxmlformats.org/officeDocument/2006/relationships/font" Target="fonts/InterLight-italic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11" Type="http://schemas.openxmlformats.org/officeDocument/2006/relationships/image" Target="../media/image15.png"/><Relationship Id="rId10" Type="http://schemas.openxmlformats.org/officeDocument/2006/relationships/image" Target="../media/image33.png"/><Relationship Id="rId9" Type="http://schemas.openxmlformats.org/officeDocument/2006/relationships/image" Target="../media/image13.png"/><Relationship Id="rId5" Type="http://schemas.openxmlformats.org/officeDocument/2006/relationships/image" Target="../media/image3.png"/><Relationship Id="rId6" Type="http://schemas.openxmlformats.org/officeDocument/2006/relationships/image" Target="../media/image12.png"/><Relationship Id="rId7" Type="http://schemas.openxmlformats.org/officeDocument/2006/relationships/image" Target="../media/image8.png"/><Relationship Id="rId8" Type="http://schemas.openxmlformats.org/officeDocument/2006/relationships/image" Target="../media/image2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9" Type="http://schemas.openxmlformats.org/officeDocument/2006/relationships/image" Target="../media/image11.png"/><Relationship Id="rId5" Type="http://schemas.openxmlformats.org/officeDocument/2006/relationships/image" Target="../media/image5.png"/><Relationship Id="rId6" Type="http://schemas.openxmlformats.org/officeDocument/2006/relationships/image" Target="../media/image7.png"/><Relationship Id="rId7" Type="http://schemas.openxmlformats.org/officeDocument/2006/relationships/image" Target="../media/image1.png"/><Relationship Id="rId8" Type="http://schemas.openxmlformats.org/officeDocument/2006/relationships/image" Target="../media/image1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29.png"/><Relationship Id="rId5" Type="http://schemas.openxmlformats.org/officeDocument/2006/relationships/image" Target="../media/image39.png"/><Relationship Id="rId6" Type="http://schemas.openxmlformats.org/officeDocument/2006/relationships/image" Target="../media/image3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28.png"/><Relationship Id="rId5" Type="http://schemas.openxmlformats.org/officeDocument/2006/relationships/image" Target="../media/image17.png"/><Relationship Id="rId6" Type="http://schemas.openxmlformats.org/officeDocument/2006/relationships/image" Target="../media/image4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9" Type="http://schemas.openxmlformats.org/officeDocument/2006/relationships/image" Target="../media/image20.png"/><Relationship Id="rId5" Type="http://schemas.openxmlformats.org/officeDocument/2006/relationships/image" Target="../media/image5.png"/><Relationship Id="rId6" Type="http://schemas.openxmlformats.org/officeDocument/2006/relationships/image" Target="../media/image7.png"/><Relationship Id="rId7" Type="http://schemas.openxmlformats.org/officeDocument/2006/relationships/image" Target="../media/image35.png"/><Relationship Id="rId8" Type="http://schemas.openxmlformats.org/officeDocument/2006/relationships/image" Target="../media/image4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Relationship Id="rId4" Type="http://schemas.openxmlformats.org/officeDocument/2006/relationships/image" Target="../media/image31.png"/><Relationship Id="rId5" Type="http://schemas.openxmlformats.org/officeDocument/2006/relationships/image" Target="../media/image1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2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Relationship Id="rId4" Type="http://schemas.openxmlformats.org/officeDocument/2006/relationships/image" Target="../media/image2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Relationship Id="rId4" Type="http://schemas.openxmlformats.org/officeDocument/2006/relationships/image" Target="../media/image2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Relationship Id="rId4" Type="http://schemas.openxmlformats.org/officeDocument/2006/relationships/image" Target="../media/image2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Relationship Id="rId4" Type="http://schemas.openxmlformats.org/officeDocument/2006/relationships/image" Target="../media/image4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.png"/><Relationship Id="rId4" Type="http://schemas.openxmlformats.org/officeDocument/2006/relationships/image" Target="../media/image36.png"/><Relationship Id="rId5" Type="http://schemas.openxmlformats.org/officeDocument/2006/relationships/image" Target="../media/image30.png"/><Relationship Id="rId6" Type="http://schemas.openxmlformats.org/officeDocument/2006/relationships/image" Target="../media/image32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.png"/><Relationship Id="rId4" Type="http://schemas.openxmlformats.org/officeDocument/2006/relationships/image" Target="../media/image41.png"/><Relationship Id="rId5" Type="http://schemas.openxmlformats.org/officeDocument/2006/relationships/image" Target="../media/image3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95275" y="2214562"/>
            <a:ext cx="116014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Arquitectura de MyBudget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571500" y="3471862"/>
            <a:ext cx="11049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Inter Light"/>
                <a:ea typeface="Inter Light"/>
                <a:cs typeface="Inter Light"/>
                <a:sym typeface="Inter Light"/>
              </a:rPr>
              <a:t>Implementación de una App de Finanzas en Kotlin &amp; Android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1" name="Google Shape;9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 txBox="1"/>
          <p:nvPr/>
        </p:nvSpPr>
        <p:spPr>
          <a:xfrm>
            <a:off x="762000" y="571500"/>
            <a:ext cx="114015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Implementación</a:t>
            </a:r>
            <a:r>
              <a:rPr b="1" i="0" lang="en-US" sz="33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 del </a:t>
            </a:r>
            <a:r>
              <a:rPr b="1" lang="en-US" sz="330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p</a:t>
            </a:r>
            <a:r>
              <a:rPr b="1" i="0" lang="en-US" sz="33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royecto</a:t>
            </a:r>
            <a:endParaRPr/>
          </a:p>
        </p:txBody>
      </p:sp>
      <p:sp>
        <p:nvSpPr>
          <p:cNvPr id="93" name="Google Shape;93;p14"/>
          <p:cNvSpPr/>
          <p:nvPr/>
        </p:nvSpPr>
        <p:spPr>
          <a:xfrm>
            <a:off x="571500" y="571500"/>
            <a:ext cx="76200" cy="6191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952500" y="3014662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Modelado de Datos: Clases y Enums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952500" y="3471862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Persistencia con SharedPreferences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952500" y="3929062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Generación de Reportes PDF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952500" y="4386262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UI con Jetpack Compose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6667500" y="3014662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Visualización de Datos (Canvas)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6667500" y="3471862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Lógica de Negocio y KPIs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6667500" y="3929062"/>
            <a:ext cx="4953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Filtrado y Ordenación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6667500" y="4386262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Conclusiones y Buenas Prácticas</a:t>
            </a:r>
            <a:endParaRPr/>
          </a:p>
        </p:txBody>
      </p:sp>
      <p:pic>
        <p:nvPicPr>
          <p:cNvPr descr="image.png" id="102" name="Google Shape;102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3057525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3" name="Google Shape;103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514725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4" name="Google Shape;104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3971925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5" name="Google Shape;105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4429125"/>
            <a:ext cx="23812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286500" y="3057525"/>
            <a:ext cx="23812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7" name="Google Shape;107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286500" y="3514725"/>
            <a:ext cx="16192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8" name="Google Shape;108;p1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286500" y="3971925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9" name="Google Shape;109;p1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286500" y="4429125"/>
            <a:ext cx="180975" cy="21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4" name="Google Shape;11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5"/>
          <p:cNvSpPr/>
          <p:nvPr/>
        </p:nvSpPr>
        <p:spPr>
          <a:xfrm>
            <a:off x="5619750" y="2647950"/>
            <a:ext cx="9525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5"/>
          <p:cNvSpPr txBox="1"/>
          <p:nvPr/>
        </p:nvSpPr>
        <p:spPr>
          <a:xfrm>
            <a:off x="0" y="2971800"/>
            <a:ext cx="121920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1. Estructura y Modelos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0" y="4152900"/>
            <a:ext cx="12192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Definiendo el ADN de nuestra aplicación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3" name="Google Shape;12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4" name="Google Shape;124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0" y="2976562"/>
            <a:ext cx="5334000" cy="190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6"/>
          <p:cNvSpPr txBox="1"/>
          <p:nvPr/>
        </p:nvSpPr>
        <p:spPr>
          <a:xfrm>
            <a:off x="762000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Data Classes: El poder de Kotlin</a:t>
            </a:r>
            <a:endParaRPr/>
          </a:p>
        </p:txBody>
      </p:sp>
      <p:sp>
        <p:nvSpPr>
          <p:cNvPr id="126" name="Google Shape;126;p16"/>
          <p:cNvSpPr/>
          <p:nvPr/>
        </p:nvSpPr>
        <p:spPr>
          <a:xfrm>
            <a:off x="571500" y="571500"/>
            <a:ext cx="76200" cy="6191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6"/>
          <p:cNvSpPr txBox="1"/>
          <p:nvPr/>
        </p:nvSpPr>
        <p:spPr>
          <a:xfrm>
            <a:off x="571500" y="3128962"/>
            <a:ext cx="5334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La clase </a:t>
            </a:r>
            <a:r>
              <a:rPr b="1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Gasto</a:t>
            </a:r>
            <a:r>
              <a:rPr b="0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utiliza una </a:t>
            </a:r>
            <a:r>
              <a:rPr b="0" i="1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Data Class</a:t>
            </a:r>
            <a:r>
              <a:rPr b="0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para encapsular la información financiera. Es la unidad mínima de nuestra app.</a:t>
            </a:r>
            <a:endParaRPr/>
          </a:p>
        </p:txBody>
      </p:sp>
      <p:sp>
        <p:nvSpPr>
          <p:cNvPr id="128" name="Google Shape;128;p16"/>
          <p:cNvSpPr txBox="1"/>
          <p:nvPr/>
        </p:nvSpPr>
        <p:spPr>
          <a:xfrm>
            <a:off x="952500" y="3700462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Inmutabilidad:</a:t>
            </a: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Los datos se definen con 'val'.</a:t>
            </a:r>
            <a:endParaRPr/>
          </a:p>
        </p:txBody>
      </p:sp>
      <p:sp>
        <p:nvSpPr>
          <p:cNvPr id="129" name="Google Shape;129;p16"/>
          <p:cNvSpPr txBox="1"/>
          <p:nvPr/>
        </p:nvSpPr>
        <p:spPr>
          <a:xfrm>
            <a:off x="952500" y="4157662"/>
            <a:ext cx="49530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Utilidades:</a:t>
            </a: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Autogeneración de toString(), equals() y hashcode().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4" name="Google Shape;13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5" name="Google Shape;135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919412"/>
            <a:ext cx="3524250" cy="2019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6" name="Google Shape;136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33875" y="2919412"/>
            <a:ext cx="3524250" cy="2019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7" name="Google Shape;137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6250" y="2919412"/>
            <a:ext cx="3524250" cy="20193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7"/>
          <p:cNvSpPr txBox="1"/>
          <p:nvPr/>
        </p:nvSpPr>
        <p:spPr>
          <a:xfrm>
            <a:off x="762000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Enum Classes para Categorización</a:t>
            </a:r>
            <a:endParaRPr/>
          </a:p>
        </p:txBody>
      </p:sp>
      <p:sp>
        <p:nvSpPr>
          <p:cNvPr id="139" name="Google Shape;139;p17"/>
          <p:cNvSpPr/>
          <p:nvPr/>
        </p:nvSpPr>
        <p:spPr>
          <a:xfrm>
            <a:off x="571500" y="571500"/>
            <a:ext cx="76200" cy="6191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 txBox="1"/>
          <p:nvPr/>
        </p:nvSpPr>
        <p:spPr>
          <a:xfrm>
            <a:off x="819150" y="3729037"/>
            <a:ext cx="3180397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Control</a:t>
            </a:r>
            <a:endParaRPr/>
          </a:p>
        </p:txBody>
      </p:sp>
      <p:sp>
        <p:nvSpPr>
          <p:cNvPr id="141" name="Google Shape;141;p17"/>
          <p:cNvSpPr txBox="1"/>
          <p:nvPr/>
        </p:nvSpPr>
        <p:spPr>
          <a:xfrm>
            <a:off x="819150" y="4157662"/>
            <a:ext cx="302895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Evita errores tipográficos al registrar gastos. Categorías cerradas.</a:t>
            </a:r>
            <a:endParaRPr/>
          </a:p>
        </p:txBody>
      </p:sp>
      <p:sp>
        <p:nvSpPr>
          <p:cNvPr id="142" name="Google Shape;142;p17"/>
          <p:cNvSpPr txBox="1"/>
          <p:nvPr/>
        </p:nvSpPr>
        <p:spPr>
          <a:xfrm>
            <a:off x="4581525" y="3729037"/>
            <a:ext cx="3180397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Estética</a:t>
            </a: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4581525" y="4157662"/>
            <a:ext cx="302895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Asocia cada categoría a un color de Compose (Color) directamente.</a:t>
            </a: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8343900" y="3729037"/>
            <a:ext cx="3180397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Filtrado</a:t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8343900" y="4157662"/>
            <a:ext cx="302895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Facilita la agrupación de datos para los motores gráficos.</a:t>
            </a:r>
            <a:endParaRPr/>
          </a:p>
        </p:txBody>
      </p:sp>
      <p:pic>
        <p:nvPicPr>
          <p:cNvPr descr="image.png" id="146" name="Google Shape;146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19150" y="3205162"/>
            <a:ext cx="3048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7" name="Google Shape;147;p1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581525" y="3205162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8" name="Google Shape;148;p1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343900" y="3205162"/>
            <a:ext cx="342900" cy="34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3" name="Google Shape;153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4" name="Google Shape;154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8"/>
          <p:cNvSpPr/>
          <p:nvPr/>
        </p:nvSpPr>
        <p:spPr>
          <a:xfrm>
            <a:off x="5619750" y="2647950"/>
            <a:ext cx="9525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8"/>
          <p:cNvSpPr txBox="1"/>
          <p:nvPr/>
        </p:nvSpPr>
        <p:spPr>
          <a:xfrm>
            <a:off x="0" y="2971800"/>
            <a:ext cx="121920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2. Almacenamiento de Datos</a:t>
            </a:r>
            <a:endParaRPr/>
          </a:p>
        </p:txBody>
      </p:sp>
      <p:sp>
        <p:nvSpPr>
          <p:cNvPr id="157" name="Google Shape;157;p18"/>
          <p:cNvSpPr txBox="1"/>
          <p:nvPr/>
        </p:nvSpPr>
        <p:spPr>
          <a:xfrm>
            <a:off x="0" y="4152900"/>
            <a:ext cx="12192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Haciendo que la información sobreviva al cierre de la app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2" name="Google Shape;16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9"/>
          <p:cNvSpPr txBox="1"/>
          <p:nvPr/>
        </p:nvSpPr>
        <p:spPr>
          <a:xfrm>
            <a:off x="762000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SharedPreferences como Base de Datos</a:t>
            </a:r>
            <a:endParaRPr/>
          </a:p>
        </p:txBody>
      </p:sp>
      <p:sp>
        <p:nvSpPr>
          <p:cNvPr id="164" name="Google Shape;164;p19"/>
          <p:cNvSpPr/>
          <p:nvPr/>
        </p:nvSpPr>
        <p:spPr>
          <a:xfrm>
            <a:off x="571500" y="571500"/>
            <a:ext cx="76200" cy="6191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9"/>
          <p:cNvSpPr txBox="1"/>
          <p:nvPr/>
        </p:nvSpPr>
        <p:spPr>
          <a:xfrm>
            <a:off x="571500" y="3357562"/>
            <a:ext cx="53340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Lite</a:t>
            </a:r>
            <a:endParaRPr/>
          </a:p>
        </p:txBody>
      </p:sp>
      <p:sp>
        <p:nvSpPr>
          <p:cNvPr id="166" name="Google Shape;166;p19"/>
          <p:cNvSpPr txBox="1"/>
          <p:nvPr/>
        </p:nvSpPr>
        <p:spPr>
          <a:xfrm>
            <a:off x="6286500" y="2838450"/>
            <a:ext cx="560070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Ideal para Aprendizaje</a:t>
            </a:r>
            <a:endParaRPr/>
          </a:p>
        </p:txBody>
      </p:sp>
      <p:sp>
        <p:nvSpPr>
          <p:cNvPr id="167" name="Google Shape;167;p19"/>
          <p:cNvSpPr txBox="1"/>
          <p:nvPr/>
        </p:nvSpPr>
        <p:spPr>
          <a:xfrm>
            <a:off x="6286500" y="3267075"/>
            <a:ext cx="5334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En lugar de una compleja base de datos SQL (Room), usamos un sistema de Clave-Valor más sencillo.</a:t>
            </a:r>
            <a:endParaRPr/>
          </a:p>
        </p:txBody>
      </p:sp>
      <p:sp>
        <p:nvSpPr>
          <p:cNvPr id="168" name="Google Shape;168;p19"/>
          <p:cNvSpPr txBox="1"/>
          <p:nvPr/>
        </p:nvSpPr>
        <p:spPr>
          <a:xfrm>
            <a:off x="6667500" y="3838575"/>
            <a:ext cx="49530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Serialización manual:</a:t>
            </a: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Convertimos objetos en texto usando separadores (| y ;).</a:t>
            </a:r>
            <a:endParaRPr/>
          </a:p>
        </p:txBody>
      </p:sp>
      <p:sp>
        <p:nvSpPr>
          <p:cNvPr id="169" name="Google Shape;169;p19"/>
          <p:cNvSpPr txBox="1"/>
          <p:nvPr/>
        </p:nvSpPr>
        <p:spPr>
          <a:xfrm>
            <a:off x="6667500" y="4562475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Acceso asíncrono:</a:t>
            </a: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Implementado mediante .apply().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4" name="Google Shape;174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20"/>
          <p:cNvSpPr txBox="1"/>
          <p:nvPr/>
        </p:nvSpPr>
        <p:spPr>
          <a:xfrm>
            <a:off x="762000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El protocolo de datos "Pipe"</a:t>
            </a:r>
            <a:endParaRPr/>
          </a:p>
        </p:txBody>
      </p:sp>
      <p:sp>
        <p:nvSpPr>
          <p:cNvPr id="176" name="Google Shape;176;p20"/>
          <p:cNvSpPr/>
          <p:nvPr/>
        </p:nvSpPr>
        <p:spPr>
          <a:xfrm>
            <a:off x="571500" y="571500"/>
            <a:ext cx="76200" cy="6191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77" name="Google Shape;177;p20"/>
          <p:cNvGraphicFramePr/>
          <p:nvPr/>
        </p:nvGraphicFramePr>
        <p:xfrm>
          <a:off x="571500" y="330041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{AC3C6DC1-17D5-4CF7-A57A-4E69DF0DC0EE}</a:tableStyleId>
              </a:tblPr>
              <a:tblGrid>
                <a:gridCol w="3465025"/>
                <a:gridCol w="7583975"/>
              </a:tblGrid>
              <a:tr h="48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Objeto Gasto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Representación en String (DB)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3A8A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Compra Comida (45.50€)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1711284000|Compra Comida|45.50|Alimentación|24/03/2026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Separador de Bloques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Utilizamos el punto y coma (;) para distinguir cada registro.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78" name="Google Shape;178;p20"/>
          <p:cNvSpPr/>
          <p:nvPr/>
        </p:nvSpPr>
        <p:spPr>
          <a:xfrm>
            <a:off x="571500" y="4248150"/>
            <a:ext cx="346501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0"/>
          <p:cNvSpPr/>
          <p:nvPr/>
        </p:nvSpPr>
        <p:spPr>
          <a:xfrm>
            <a:off x="4036516" y="4248150"/>
            <a:ext cx="758398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0"/>
          <p:cNvSpPr/>
          <p:nvPr/>
        </p:nvSpPr>
        <p:spPr>
          <a:xfrm>
            <a:off x="571500" y="4733925"/>
            <a:ext cx="346501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0"/>
          <p:cNvSpPr/>
          <p:nvPr/>
        </p:nvSpPr>
        <p:spPr>
          <a:xfrm>
            <a:off x="4036516" y="4733925"/>
            <a:ext cx="758398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6" name="Google Shape;18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7" name="Google Shape;187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1"/>
          <p:cNvSpPr/>
          <p:nvPr/>
        </p:nvSpPr>
        <p:spPr>
          <a:xfrm>
            <a:off x="5619750" y="2647950"/>
            <a:ext cx="9525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1"/>
          <p:cNvSpPr txBox="1"/>
          <p:nvPr/>
        </p:nvSpPr>
        <p:spPr>
          <a:xfrm>
            <a:off x="0" y="2971800"/>
            <a:ext cx="121920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3. Exportación </a:t>
            </a:r>
            <a:r>
              <a:rPr b="1" lang="en-US" sz="54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 informes</a:t>
            </a:r>
            <a:endParaRPr/>
          </a:p>
        </p:txBody>
      </p:sp>
      <p:sp>
        <p:nvSpPr>
          <p:cNvPr id="190" name="Google Shape;190;p21"/>
          <p:cNvSpPr txBox="1"/>
          <p:nvPr/>
        </p:nvSpPr>
        <p:spPr>
          <a:xfrm>
            <a:off x="0" y="4152900"/>
            <a:ext cx="12192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Saliendo del entorno digital al mundo físico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5" name="Google Shape;19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6" name="Google Shape;196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3152775"/>
            <a:ext cx="5334000" cy="15525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7" name="Google Shape;197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0" y="3152775"/>
            <a:ext cx="5334000" cy="1552575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2"/>
          <p:cNvSpPr txBox="1"/>
          <p:nvPr/>
        </p:nvSpPr>
        <p:spPr>
          <a:xfrm>
            <a:off x="762000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Generación de PDF Nativo</a:t>
            </a:r>
            <a:endParaRPr/>
          </a:p>
        </p:txBody>
      </p:sp>
      <p:sp>
        <p:nvSpPr>
          <p:cNvPr id="199" name="Google Shape;199;p22"/>
          <p:cNvSpPr/>
          <p:nvPr/>
        </p:nvSpPr>
        <p:spPr>
          <a:xfrm>
            <a:off x="571500" y="571500"/>
            <a:ext cx="76200" cy="6191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2"/>
          <p:cNvSpPr txBox="1"/>
          <p:nvPr/>
        </p:nvSpPr>
        <p:spPr>
          <a:xfrm>
            <a:off x="866775" y="3448050"/>
            <a:ext cx="4980622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809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PdfDocument</a:t>
            </a:r>
            <a:endParaRPr/>
          </a:p>
        </p:txBody>
      </p:sp>
      <p:sp>
        <p:nvSpPr>
          <p:cNvPr id="201" name="Google Shape;201;p22"/>
          <p:cNvSpPr txBox="1"/>
          <p:nvPr/>
        </p:nvSpPr>
        <p:spPr>
          <a:xfrm>
            <a:off x="866775" y="3876675"/>
            <a:ext cx="474345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Usamos la API nativa de Android para "dibujar" en un lienzo virtual de tamaño A4 (595x842 puntos).</a:t>
            </a:r>
            <a:endParaRPr/>
          </a:p>
        </p:txBody>
      </p:sp>
      <p:sp>
        <p:nvSpPr>
          <p:cNvPr id="202" name="Google Shape;202;p22"/>
          <p:cNvSpPr txBox="1"/>
          <p:nvPr/>
        </p:nvSpPr>
        <p:spPr>
          <a:xfrm>
            <a:off x="6581775" y="3448050"/>
            <a:ext cx="4980622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0002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Sistema de Archivos</a:t>
            </a:r>
            <a:endParaRPr/>
          </a:p>
        </p:txBody>
      </p:sp>
      <p:sp>
        <p:nvSpPr>
          <p:cNvPr id="203" name="Google Shape;203;p22"/>
          <p:cNvSpPr txBox="1"/>
          <p:nvPr/>
        </p:nvSpPr>
        <p:spPr>
          <a:xfrm>
            <a:off x="6581775" y="3876675"/>
            <a:ext cx="474345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Guardamos en </a:t>
            </a:r>
            <a:r>
              <a:rPr b="0" i="1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DIRECTORY_DOWNLOADS</a:t>
            </a:r>
            <a:r>
              <a:rPr b="0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para que el usuario acceda al archivo sin permisos especiales.</a:t>
            </a:r>
            <a:endParaRPr/>
          </a:p>
        </p:txBody>
      </p:sp>
      <p:pic>
        <p:nvPicPr>
          <p:cNvPr descr="image.png" id="204" name="Google Shape;204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66775" y="3495675"/>
            <a:ext cx="180975" cy="17829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5" name="Google Shape;205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81775" y="3495675"/>
            <a:ext cx="200025" cy="178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0" name="Google Shape;210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3"/>
          <p:cNvSpPr txBox="1"/>
          <p:nvPr/>
        </p:nvSpPr>
        <p:spPr>
          <a:xfrm>
            <a:off x="762000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Auto-Apertura y StrictMode</a:t>
            </a:r>
            <a:endParaRPr/>
          </a:p>
        </p:txBody>
      </p:sp>
      <p:sp>
        <p:nvSpPr>
          <p:cNvPr id="212" name="Google Shape;212;p23"/>
          <p:cNvSpPr/>
          <p:nvPr/>
        </p:nvSpPr>
        <p:spPr>
          <a:xfrm>
            <a:off x="571500" y="571500"/>
            <a:ext cx="76200" cy="6191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3"/>
          <p:cNvSpPr txBox="1"/>
          <p:nvPr/>
        </p:nvSpPr>
        <p:spPr>
          <a:xfrm>
            <a:off x="952500" y="3243262"/>
            <a:ext cx="10668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El Reto:</a:t>
            </a: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Android bloquea el acceso directo a archivos por seguridad (FileUriExposedException).</a:t>
            </a:r>
            <a:endParaRPr/>
          </a:p>
        </p:txBody>
      </p:sp>
      <p:sp>
        <p:nvSpPr>
          <p:cNvPr id="214" name="Google Shape;214;p23"/>
          <p:cNvSpPr txBox="1"/>
          <p:nvPr/>
        </p:nvSpPr>
        <p:spPr>
          <a:xfrm>
            <a:off x="952500" y="3700462"/>
            <a:ext cx="10668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La Solución Educativa:</a:t>
            </a: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Usamos </a:t>
            </a:r>
            <a:r>
              <a:rPr b="0" i="1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StrictMode.setVmPolicy</a:t>
            </a: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para relajar las reglas en esta app de aprendizaje.</a:t>
            </a:r>
            <a:endParaRPr/>
          </a:p>
        </p:txBody>
      </p:sp>
      <p:sp>
        <p:nvSpPr>
          <p:cNvPr id="215" name="Google Shape;215;p23"/>
          <p:cNvSpPr txBox="1"/>
          <p:nvPr/>
        </p:nvSpPr>
        <p:spPr>
          <a:xfrm>
            <a:off x="952500" y="4157662"/>
            <a:ext cx="10668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Intent Chooser:</a:t>
            </a: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Invocamos al sistema para que el usuario elija su lector de PDF favorito.</a:t>
            </a:r>
            <a:endParaRPr/>
          </a:p>
        </p:txBody>
      </p:sp>
      <p:pic>
        <p:nvPicPr>
          <p:cNvPr descr="image.png" id="216" name="Google Shape;216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3286125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7" name="Google Shape;217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743325"/>
            <a:ext cx="2667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8" name="Google Shape;218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200525"/>
            <a:ext cx="180975" cy="21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3" name="Google Shape;223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4" name="Google Shape;224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24"/>
          <p:cNvSpPr/>
          <p:nvPr/>
        </p:nvSpPr>
        <p:spPr>
          <a:xfrm>
            <a:off x="5619750" y="2647950"/>
            <a:ext cx="9525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4"/>
          <p:cNvSpPr txBox="1"/>
          <p:nvPr/>
        </p:nvSpPr>
        <p:spPr>
          <a:xfrm>
            <a:off x="0" y="2971800"/>
            <a:ext cx="121920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4. Interfaz con Jetpack Compose</a:t>
            </a:r>
            <a:endParaRPr/>
          </a:p>
        </p:txBody>
      </p:sp>
      <p:sp>
        <p:nvSpPr>
          <p:cNvPr id="227" name="Google Shape;227;p24"/>
          <p:cNvSpPr txBox="1"/>
          <p:nvPr/>
        </p:nvSpPr>
        <p:spPr>
          <a:xfrm>
            <a:off x="0" y="4152900"/>
            <a:ext cx="12192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Declaratividad y reactividad en estado puro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2" name="Google Shape;232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25"/>
          <p:cNvSpPr txBox="1"/>
          <p:nvPr/>
        </p:nvSpPr>
        <p:spPr>
          <a:xfrm>
            <a:off x="762000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Single Page Application (SPA)</a:t>
            </a:r>
            <a:endParaRPr/>
          </a:p>
        </p:txBody>
      </p:sp>
      <p:sp>
        <p:nvSpPr>
          <p:cNvPr id="234" name="Google Shape;234;p25"/>
          <p:cNvSpPr/>
          <p:nvPr/>
        </p:nvSpPr>
        <p:spPr>
          <a:xfrm>
            <a:off x="571500" y="571500"/>
            <a:ext cx="76200" cy="6191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5"/>
          <p:cNvSpPr txBox="1"/>
          <p:nvPr/>
        </p:nvSpPr>
        <p:spPr>
          <a:xfrm>
            <a:off x="571500" y="3014662"/>
            <a:ext cx="5334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En lugar de múltiples </a:t>
            </a:r>
            <a:r>
              <a:rPr b="0" i="1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Activities</a:t>
            </a:r>
            <a:r>
              <a:rPr b="0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, usamos un único </a:t>
            </a:r>
            <a:r>
              <a:rPr b="1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MainActivity</a:t>
            </a:r>
            <a:r>
              <a:rPr b="0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que gestiona el estado de navegación.</a:t>
            </a:r>
            <a:endParaRPr/>
          </a:p>
        </p:txBody>
      </p:sp>
      <p:graphicFrame>
        <p:nvGraphicFramePr>
          <p:cNvPr id="236" name="Google Shape;236;p25"/>
          <p:cNvGraphicFramePr/>
          <p:nvPr/>
        </p:nvGraphicFramePr>
        <p:xfrm>
          <a:off x="6286500" y="30527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{AC3C6DC1-17D5-4CF7-A57A-4E69DF0DC0EE}</a:tableStyleId>
              </a:tblPr>
              <a:tblGrid>
                <a:gridCol w="2107250"/>
                <a:gridCol w="3226750"/>
              </a:tblGrid>
              <a:tr h="485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Dashboard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Analítica y KPIs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5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Nuevo Gasto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Formulario de entrada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5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Historial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Lista filtrable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37" name="Google Shape;237;p25"/>
          <p:cNvSpPr txBox="1"/>
          <p:nvPr/>
        </p:nvSpPr>
        <p:spPr>
          <a:xfrm>
            <a:off x="952500" y="3548062"/>
            <a:ext cx="49530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Estado Mutable:</a:t>
            </a: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1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pantallaActual</a:t>
            </a: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define qué Composable se renderiza.</a:t>
            </a:r>
            <a:endParaRPr/>
          </a:p>
        </p:txBody>
      </p:sp>
      <p:sp>
        <p:nvSpPr>
          <p:cNvPr id="238" name="Google Shape;238;p25"/>
          <p:cNvSpPr txBox="1"/>
          <p:nvPr/>
        </p:nvSpPr>
        <p:spPr>
          <a:xfrm>
            <a:off x="952500" y="4271962"/>
            <a:ext cx="49530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BackHandler:</a:t>
            </a: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Gestionamos el botón físico "atrás" de Android para no cerrar la app accidentalmente.</a:t>
            </a:r>
            <a:endParaRPr/>
          </a:p>
        </p:txBody>
      </p:sp>
      <p:sp>
        <p:nvSpPr>
          <p:cNvPr id="239" name="Google Shape;239;p25"/>
          <p:cNvSpPr/>
          <p:nvPr/>
        </p:nvSpPr>
        <p:spPr>
          <a:xfrm>
            <a:off x="6286500" y="3524250"/>
            <a:ext cx="210725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5"/>
          <p:cNvSpPr/>
          <p:nvPr/>
        </p:nvSpPr>
        <p:spPr>
          <a:xfrm>
            <a:off x="8393757" y="3524250"/>
            <a:ext cx="322674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5"/>
          <p:cNvSpPr/>
          <p:nvPr/>
        </p:nvSpPr>
        <p:spPr>
          <a:xfrm>
            <a:off x="6286500" y="4010025"/>
            <a:ext cx="210725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5"/>
          <p:cNvSpPr/>
          <p:nvPr/>
        </p:nvSpPr>
        <p:spPr>
          <a:xfrm>
            <a:off x="8393757" y="4010025"/>
            <a:ext cx="322674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5"/>
          <p:cNvSpPr/>
          <p:nvPr/>
        </p:nvSpPr>
        <p:spPr>
          <a:xfrm>
            <a:off x="6286500" y="4495800"/>
            <a:ext cx="210725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5"/>
          <p:cNvSpPr/>
          <p:nvPr/>
        </p:nvSpPr>
        <p:spPr>
          <a:xfrm>
            <a:off x="8393757" y="4495800"/>
            <a:ext cx="322674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9" name="Google Shape;24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0" name="Google Shape;2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919412"/>
            <a:ext cx="3524250" cy="2019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1" name="Google Shape;251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33875" y="2919412"/>
            <a:ext cx="3524250" cy="2019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2" name="Google Shape;252;p2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6250" y="2919412"/>
            <a:ext cx="3524250" cy="2019300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6"/>
          <p:cNvSpPr txBox="1"/>
          <p:nvPr/>
        </p:nvSpPr>
        <p:spPr>
          <a:xfrm>
            <a:off x="762000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Diseño del Dashboard</a:t>
            </a:r>
            <a:endParaRPr/>
          </a:p>
        </p:txBody>
      </p:sp>
      <p:sp>
        <p:nvSpPr>
          <p:cNvPr id="254" name="Google Shape;254;p26"/>
          <p:cNvSpPr/>
          <p:nvPr/>
        </p:nvSpPr>
        <p:spPr>
          <a:xfrm>
            <a:off x="571500" y="571500"/>
            <a:ext cx="76200" cy="6191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6"/>
          <p:cNvSpPr txBox="1"/>
          <p:nvPr/>
        </p:nvSpPr>
        <p:spPr>
          <a:xfrm>
            <a:off x="819150" y="3729037"/>
            <a:ext cx="3180397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Resumen</a:t>
            </a:r>
            <a:endParaRPr/>
          </a:p>
        </p:txBody>
      </p:sp>
      <p:sp>
        <p:nvSpPr>
          <p:cNvPr id="256" name="Google Shape;256;p26"/>
          <p:cNvSpPr txBox="1"/>
          <p:nvPr/>
        </p:nvSpPr>
        <p:spPr>
          <a:xfrm>
            <a:off x="819150" y="4157662"/>
            <a:ext cx="302895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Visualización del gasto total frente al presupuesto mensual mediante Cards.</a:t>
            </a:r>
            <a:endParaRPr/>
          </a:p>
        </p:txBody>
      </p:sp>
      <p:sp>
        <p:nvSpPr>
          <p:cNvPr id="257" name="Google Shape;257;p26"/>
          <p:cNvSpPr txBox="1"/>
          <p:nvPr/>
        </p:nvSpPr>
        <p:spPr>
          <a:xfrm>
            <a:off x="4581525" y="3729037"/>
            <a:ext cx="3180397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Tendencias</a:t>
            </a:r>
            <a:endParaRPr/>
          </a:p>
        </p:txBody>
      </p:sp>
      <p:sp>
        <p:nvSpPr>
          <p:cNvPr id="258" name="Google Shape;258;p26"/>
          <p:cNvSpPr txBox="1"/>
          <p:nvPr/>
        </p:nvSpPr>
        <p:spPr>
          <a:xfrm>
            <a:off x="4581525" y="4157662"/>
            <a:ext cx="302895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Integración de Canvas para gráficos de barras y circulares.</a:t>
            </a:r>
            <a:endParaRPr/>
          </a:p>
        </p:txBody>
      </p:sp>
      <p:sp>
        <p:nvSpPr>
          <p:cNvPr id="259" name="Google Shape;259;p26"/>
          <p:cNvSpPr txBox="1"/>
          <p:nvPr/>
        </p:nvSpPr>
        <p:spPr>
          <a:xfrm>
            <a:off x="8343900" y="3729037"/>
            <a:ext cx="3180397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Acciones</a:t>
            </a:r>
            <a:endParaRPr/>
          </a:p>
        </p:txBody>
      </p:sp>
      <p:sp>
        <p:nvSpPr>
          <p:cNvPr id="260" name="Google Shape;260;p26"/>
          <p:cNvSpPr txBox="1"/>
          <p:nvPr/>
        </p:nvSpPr>
        <p:spPr>
          <a:xfrm>
            <a:off x="8343900" y="4157662"/>
            <a:ext cx="302895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Botones flotantes para añadir gastos rápidamente.</a:t>
            </a:r>
            <a:endParaRPr/>
          </a:p>
        </p:txBody>
      </p:sp>
      <p:pic>
        <p:nvPicPr>
          <p:cNvPr descr="image.png" id="261" name="Google Shape;261;p2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19150" y="3205162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2" name="Google Shape;262;p2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581525" y="3205162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3" name="Google Shape;263;p2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343900" y="3205162"/>
            <a:ext cx="304800" cy="34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8" name="Google Shape;268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9" name="Google Shape;26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7"/>
          <p:cNvSpPr/>
          <p:nvPr/>
        </p:nvSpPr>
        <p:spPr>
          <a:xfrm>
            <a:off x="5619750" y="2647950"/>
            <a:ext cx="9525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7"/>
          <p:cNvSpPr txBox="1"/>
          <p:nvPr/>
        </p:nvSpPr>
        <p:spPr>
          <a:xfrm>
            <a:off x="0" y="2971800"/>
            <a:ext cx="121920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5. Lógica de Negocio Financiera</a:t>
            </a:r>
            <a:endParaRPr/>
          </a:p>
        </p:txBody>
      </p:sp>
      <p:sp>
        <p:nvSpPr>
          <p:cNvPr id="272" name="Google Shape;272;p27"/>
          <p:cNvSpPr txBox="1"/>
          <p:nvPr/>
        </p:nvSpPr>
        <p:spPr>
          <a:xfrm>
            <a:off x="0" y="4152900"/>
            <a:ext cx="12192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Transformando datos brutos en información inteligente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7" name="Google Shape;277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28"/>
          <p:cNvSpPr txBox="1"/>
          <p:nvPr/>
        </p:nvSpPr>
        <p:spPr>
          <a:xfrm>
            <a:off x="762000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Cálculo de KPIs Analíticos</a:t>
            </a:r>
            <a:endParaRPr/>
          </a:p>
        </p:txBody>
      </p:sp>
      <p:sp>
        <p:nvSpPr>
          <p:cNvPr id="279" name="Google Shape;279;p28"/>
          <p:cNvSpPr/>
          <p:nvPr/>
        </p:nvSpPr>
        <p:spPr>
          <a:xfrm>
            <a:off x="571500" y="571500"/>
            <a:ext cx="76200" cy="6191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8"/>
          <p:cNvSpPr txBox="1"/>
          <p:nvPr/>
        </p:nvSpPr>
        <p:spPr>
          <a:xfrm>
            <a:off x="571500" y="3205162"/>
            <a:ext cx="5334000" cy="14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0" u="none" cap="none" strike="noStrik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Avg</a:t>
            </a:r>
            <a:endParaRPr/>
          </a:p>
        </p:txBody>
      </p:sp>
      <p:sp>
        <p:nvSpPr>
          <p:cNvPr id="281" name="Google Shape;281;p28"/>
          <p:cNvSpPr txBox="1"/>
          <p:nvPr/>
        </p:nvSpPr>
        <p:spPr>
          <a:xfrm>
            <a:off x="6286500" y="3205162"/>
            <a:ext cx="560070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Promedio Diario Inteligente</a:t>
            </a:r>
            <a:endParaRPr/>
          </a:p>
        </p:txBody>
      </p:sp>
      <p:sp>
        <p:nvSpPr>
          <p:cNvPr id="282" name="Google Shape;282;p28"/>
          <p:cNvSpPr txBox="1"/>
          <p:nvPr/>
        </p:nvSpPr>
        <p:spPr>
          <a:xfrm>
            <a:off x="6286500" y="3633787"/>
            <a:ext cx="5334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Calculado dividiendo el total gastado entre el número de días únicos presentes en el historial.</a:t>
            </a:r>
            <a:endParaRPr/>
          </a:p>
        </p:txBody>
      </p:sp>
      <p:sp>
        <p:nvSpPr>
          <p:cNvPr id="283" name="Google Shape;283;p28"/>
          <p:cNvSpPr/>
          <p:nvPr/>
        </p:nvSpPr>
        <p:spPr>
          <a:xfrm>
            <a:off x="6286500" y="4167187"/>
            <a:ext cx="5334000" cy="3619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8"/>
          <p:cNvSpPr txBox="1"/>
          <p:nvPr/>
        </p:nvSpPr>
        <p:spPr>
          <a:xfrm>
            <a:off x="6381750" y="4262437"/>
            <a:ext cx="5143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total / gastos.map { it.fecha }.distinct().size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9" name="Google Shape;289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29"/>
          <p:cNvSpPr txBox="1"/>
          <p:nvPr/>
        </p:nvSpPr>
        <p:spPr>
          <a:xfrm>
            <a:off x="762000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Predicción de Flujo de Caja</a:t>
            </a:r>
            <a:endParaRPr/>
          </a:p>
        </p:txBody>
      </p:sp>
      <p:sp>
        <p:nvSpPr>
          <p:cNvPr id="291" name="Google Shape;291;p29"/>
          <p:cNvSpPr/>
          <p:nvPr/>
        </p:nvSpPr>
        <p:spPr>
          <a:xfrm>
            <a:off x="571500" y="571500"/>
            <a:ext cx="76200" cy="6191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9"/>
          <p:cNvSpPr txBox="1"/>
          <p:nvPr/>
        </p:nvSpPr>
        <p:spPr>
          <a:xfrm>
            <a:off x="952500" y="3243262"/>
            <a:ext cx="10668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Estimación:</a:t>
            </a: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Multiplicamos el promedio diario por 30 para prever el gasto a fin de mes.</a:t>
            </a:r>
            <a:endParaRPr/>
          </a:p>
        </p:txBody>
      </p:sp>
      <p:sp>
        <p:nvSpPr>
          <p:cNvPr id="293" name="Google Shape;293;p29"/>
          <p:cNvSpPr txBox="1"/>
          <p:nvPr/>
        </p:nvSpPr>
        <p:spPr>
          <a:xfrm>
            <a:off x="952500" y="3700462"/>
            <a:ext cx="10668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Regla del 80%:</a:t>
            </a: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Si el gasto actual supera el 80% del presupuesto, la app cambia a un color de alerta (Naranja/Rojo).</a:t>
            </a:r>
            <a:endParaRPr/>
          </a:p>
        </p:txBody>
      </p:sp>
      <p:sp>
        <p:nvSpPr>
          <p:cNvPr id="294" name="Google Shape;294;p29"/>
          <p:cNvSpPr txBox="1"/>
          <p:nvPr/>
        </p:nvSpPr>
        <p:spPr>
          <a:xfrm>
            <a:off x="952500" y="4157662"/>
            <a:ext cx="10668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Categoría Top:</a:t>
            </a: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Uso de </a:t>
            </a:r>
            <a:r>
              <a:rPr b="0" i="1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groupBy</a:t>
            </a: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y </a:t>
            </a:r>
            <a:r>
              <a:rPr b="0" i="1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maxByOrNull</a:t>
            </a: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para identificar el mayor foco de gasto.</a:t>
            </a:r>
            <a:endParaRPr/>
          </a:p>
        </p:txBody>
      </p:sp>
      <p:pic>
        <p:nvPicPr>
          <p:cNvPr descr="image.png" id="295" name="Google Shape;295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3743325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6" name="Google Shape;296;p2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4200525"/>
            <a:ext cx="238125" cy="21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01" name="Google Shape;301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2" name="Google Shape;302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30"/>
          <p:cNvSpPr/>
          <p:nvPr/>
        </p:nvSpPr>
        <p:spPr>
          <a:xfrm>
            <a:off x="5619750" y="2647950"/>
            <a:ext cx="9525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30"/>
          <p:cNvSpPr txBox="1"/>
          <p:nvPr/>
        </p:nvSpPr>
        <p:spPr>
          <a:xfrm>
            <a:off x="0" y="2971800"/>
            <a:ext cx="121920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6. Visualización con Canvas</a:t>
            </a:r>
            <a:endParaRPr/>
          </a:p>
        </p:txBody>
      </p:sp>
      <p:sp>
        <p:nvSpPr>
          <p:cNvPr id="305" name="Google Shape;305;p30"/>
          <p:cNvSpPr txBox="1"/>
          <p:nvPr/>
        </p:nvSpPr>
        <p:spPr>
          <a:xfrm>
            <a:off x="0" y="4152900"/>
            <a:ext cx="12192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Geometría aplicada a las finanzas personales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0" name="Google Shape;310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1" name="Google Shape;311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62875" y="2738437"/>
            <a:ext cx="2381250" cy="2381250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31"/>
          <p:cNvSpPr txBox="1"/>
          <p:nvPr/>
        </p:nvSpPr>
        <p:spPr>
          <a:xfrm>
            <a:off x="762000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El Gráfico Circular (Pie Chart)</a:t>
            </a:r>
            <a:endParaRPr/>
          </a:p>
        </p:txBody>
      </p:sp>
      <p:sp>
        <p:nvSpPr>
          <p:cNvPr id="313" name="Google Shape;313;p31"/>
          <p:cNvSpPr/>
          <p:nvPr/>
        </p:nvSpPr>
        <p:spPr>
          <a:xfrm>
            <a:off x="571500" y="571500"/>
            <a:ext cx="76200" cy="6191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31"/>
          <p:cNvSpPr txBox="1"/>
          <p:nvPr/>
        </p:nvSpPr>
        <p:spPr>
          <a:xfrm>
            <a:off x="952500" y="2890837"/>
            <a:ext cx="49530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drawArc:</a:t>
            </a: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Usamos ángulos para representar porcentajes.</a:t>
            </a:r>
            <a:endParaRPr/>
          </a:p>
        </p:txBody>
      </p:sp>
      <p:sp>
        <p:nvSpPr>
          <p:cNvPr id="315" name="Google Shape;315;p31"/>
          <p:cNvSpPr txBox="1"/>
          <p:nvPr/>
        </p:nvSpPr>
        <p:spPr>
          <a:xfrm>
            <a:off x="952500" y="3614737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Lógica:</a:t>
            </a: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360 grados equivalen al 100% del gasto total.</a:t>
            </a:r>
            <a:endParaRPr/>
          </a:p>
        </p:txBody>
      </p:sp>
      <p:sp>
        <p:nvSpPr>
          <p:cNvPr id="316" name="Google Shape;316;p31"/>
          <p:cNvSpPr txBox="1"/>
          <p:nvPr/>
        </p:nvSpPr>
        <p:spPr>
          <a:xfrm>
            <a:off x="952500" y="4071937"/>
            <a:ext cx="49530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Leyenda Dinámica:</a:t>
            </a: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Sincronización de colores entre el gráfico y el texto.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21" name="Google Shape;321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2" name="Google Shape;322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571625"/>
            <a:ext cx="11049000" cy="4714875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p32"/>
          <p:cNvSpPr txBox="1"/>
          <p:nvPr/>
        </p:nvSpPr>
        <p:spPr>
          <a:xfrm>
            <a:off x="762000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Gráfico de Barras Verticales</a:t>
            </a:r>
            <a:endParaRPr/>
          </a:p>
        </p:txBody>
      </p:sp>
      <p:sp>
        <p:nvSpPr>
          <p:cNvPr id="324" name="Google Shape;324;p32"/>
          <p:cNvSpPr/>
          <p:nvPr/>
        </p:nvSpPr>
        <p:spPr>
          <a:xfrm>
            <a:off x="571500" y="571500"/>
            <a:ext cx="76200" cy="6191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32"/>
          <p:cNvSpPr txBox="1"/>
          <p:nvPr/>
        </p:nvSpPr>
        <p:spPr>
          <a:xfrm>
            <a:off x="571500" y="5424487"/>
            <a:ext cx="11049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Visualización de los últimos 5 días de gasto.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30" name="Google Shape;33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1" name="Google Shape;331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3200400"/>
            <a:ext cx="11049000" cy="1457325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33"/>
          <p:cNvSpPr txBox="1"/>
          <p:nvPr/>
        </p:nvSpPr>
        <p:spPr>
          <a:xfrm>
            <a:off x="762000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Native Canvas vs Compose Canvas</a:t>
            </a:r>
            <a:endParaRPr/>
          </a:p>
        </p:txBody>
      </p:sp>
      <p:sp>
        <p:nvSpPr>
          <p:cNvPr id="333" name="Google Shape;333;p33"/>
          <p:cNvSpPr/>
          <p:nvPr/>
        </p:nvSpPr>
        <p:spPr>
          <a:xfrm>
            <a:off x="571500" y="571500"/>
            <a:ext cx="76200" cy="6191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33"/>
          <p:cNvSpPr txBox="1"/>
          <p:nvPr/>
        </p:nvSpPr>
        <p:spPr>
          <a:xfrm>
            <a:off x="857250" y="3448050"/>
            <a:ext cx="1104138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EF4444"/>
                </a:solidFill>
                <a:latin typeface="Poppins"/>
                <a:ea typeface="Poppins"/>
                <a:cs typeface="Poppins"/>
                <a:sym typeface="Poppins"/>
              </a:rPr>
              <a:t>⚠️ El Reto del Texto</a:t>
            </a:r>
            <a:endParaRPr/>
          </a:p>
        </p:txBody>
      </p:sp>
      <p:sp>
        <p:nvSpPr>
          <p:cNvPr id="335" name="Google Shape;335;p33"/>
          <p:cNvSpPr txBox="1"/>
          <p:nvPr/>
        </p:nvSpPr>
        <p:spPr>
          <a:xfrm>
            <a:off x="857250" y="3876675"/>
            <a:ext cx="105156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El Canvas moderno de Compose es excelente para figuras, pero limitado para texto avanzado. Usamos </a:t>
            </a:r>
            <a:r>
              <a:rPr b="1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nativeCanvas</a:t>
            </a:r>
            <a:r>
              <a:rPr b="0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para acceder a las APIs clásicas de Android (Paint) y rotular los ejes de los gráficos.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40" name="Google Shape;340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1" name="Google Shape;341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34"/>
          <p:cNvSpPr/>
          <p:nvPr/>
        </p:nvSpPr>
        <p:spPr>
          <a:xfrm>
            <a:off x="5619750" y="2647950"/>
            <a:ext cx="9525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34"/>
          <p:cNvSpPr txBox="1"/>
          <p:nvPr/>
        </p:nvSpPr>
        <p:spPr>
          <a:xfrm>
            <a:off x="0" y="2971800"/>
            <a:ext cx="121920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7. Interacción de Usuario Pro</a:t>
            </a:r>
            <a:endParaRPr/>
          </a:p>
        </p:txBody>
      </p:sp>
      <p:sp>
        <p:nvSpPr>
          <p:cNvPr id="344" name="Google Shape;344;p34"/>
          <p:cNvSpPr txBox="1"/>
          <p:nvPr/>
        </p:nvSpPr>
        <p:spPr>
          <a:xfrm>
            <a:off x="0" y="4152900"/>
            <a:ext cx="12192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Componentes avanzados de la plataforma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49" name="Google Shape;349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0" name="Google Shape;350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0" y="2957512"/>
            <a:ext cx="5334000" cy="1943100"/>
          </a:xfrm>
          <a:prstGeom prst="rect">
            <a:avLst/>
          </a:prstGeom>
          <a:noFill/>
          <a:ln>
            <a:noFill/>
          </a:ln>
        </p:spPr>
      </p:pic>
      <p:sp>
        <p:nvSpPr>
          <p:cNvPr id="351" name="Google Shape;351;p35"/>
          <p:cNvSpPr txBox="1"/>
          <p:nvPr/>
        </p:nvSpPr>
        <p:spPr>
          <a:xfrm>
            <a:off x="762000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Integración de DatePickerDialog</a:t>
            </a:r>
            <a:endParaRPr/>
          </a:p>
        </p:txBody>
      </p:sp>
      <p:sp>
        <p:nvSpPr>
          <p:cNvPr id="352" name="Google Shape;352;p35"/>
          <p:cNvSpPr/>
          <p:nvPr/>
        </p:nvSpPr>
        <p:spPr>
          <a:xfrm>
            <a:off x="571500" y="571500"/>
            <a:ext cx="76200" cy="6191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35"/>
          <p:cNvSpPr txBox="1"/>
          <p:nvPr/>
        </p:nvSpPr>
        <p:spPr>
          <a:xfrm>
            <a:off x="952500" y="3109912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Evita que el usuario escriba fechas mal formateadas.</a:t>
            </a:r>
            <a:endParaRPr/>
          </a:p>
        </p:txBody>
      </p:sp>
      <p:sp>
        <p:nvSpPr>
          <p:cNvPr id="354" name="Google Shape;354;p35"/>
          <p:cNvSpPr txBox="1"/>
          <p:nvPr/>
        </p:nvSpPr>
        <p:spPr>
          <a:xfrm>
            <a:off x="952500" y="3567112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Utiliza el calendario nativo del sistema operativo.</a:t>
            </a:r>
            <a:endParaRPr/>
          </a:p>
        </p:txBody>
      </p:sp>
      <p:sp>
        <p:nvSpPr>
          <p:cNvPr id="355" name="Google Shape;355;p35"/>
          <p:cNvSpPr txBox="1"/>
          <p:nvPr/>
        </p:nvSpPr>
        <p:spPr>
          <a:xfrm>
            <a:off x="952500" y="4024312"/>
            <a:ext cx="49530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Sincronización:</a:t>
            </a: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Se actualiza el </a:t>
            </a:r>
            <a:r>
              <a:rPr b="0" i="1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state</a:t>
            </a: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'fechaSeleccionada' al cerrar el diálogo.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60" name="Google Shape;360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1" name="Google Shape;361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3638550"/>
            <a:ext cx="5334000" cy="1362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2" name="Google Shape;3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0" y="3638550"/>
            <a:ext cx="5334000" cy="1362075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36"/>
          <p:cNvSpPr txBox="1"/>
          <p:nvPr/>
        </p:nvSpPr>
        <p:spPr>
          <a:xfrm>
            <a:off x="762000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Filtrado y Ordenación Dinámica</a:t>
            </a:r>
            <a:endParaRPr/>
          </a:p>
        </p:txBody>
      </p:sp>
      <p:sp>
        <p:nvSpPr>
          <p:cNvPr id="364" name="Google Shape;364;p36"/>
          <p:cNvSpPr/>
          <p:nvPr/>
        </p:nvSpPr>
        <p:spPr>
          <a:xfrm>
            <a:off x="571500" y="571500"/>
            <a:ext cx="76200" cy="6191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36"/>
          <p:cNvSpPr txBox="1"/>
          <p:nvPr/>
        </p:nvSpPr>
        <p:spPr>
          <a:xfrm>
            <a:off x="571500" y="3009900"/>
            <a:ext cx="11049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El historial no es una lista estática. Aplicamos transformaciones funcionales de Kotlin en tiempo real:</a:t>
            </a:r>
            <a:endParaRPr/>
          </a:p>
        </p:txBody>
      </p:sp>
      <p:sp>
        <p:nvSpPr>
          <p:cNvPr id="366" name="Google Shape;366;p36"/>
          <p:cNvSpPr txBox="1"/>
          <p:nvPr/>
        </p:nvSpPr>
        <p:spPr>
          <a:xfrm>
            <a:off x="866775" y="3933825"/>
            <a:ext cx="4980622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Filtrado</a:t>
            </a:r>
            <a:endParaRPr/>
          </a:p>
        </p:txBody>
      </p:sp>
      <p:sp>
        <p:nvSpPr>
          <p:cNvPr id="367" name="Google Shape;367;p36"/>
          <p:cNvSpPr txBox="1"/>
          <p:nvPr/>
        </p:nvSpPr>
        <p:spPr>
          <a:xfrm>
            <a:off x="866775" y="4362450"/>
            <a:ext cx="47434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.filter { it.categoria == seleccion }</a:t>
            </a:r>
            <a:endParaRPr/>
          </a:p>
        </p:txBody>
      </p:sp>
      <p:sp>
        <p:nvSpPr>
          <p:cNvPr id="368" name="Google Shape;368;p36"/>
          <p:cNvSpPr txBox="1"/>
          <p:nvPr/>
        </p:nvSpPr>
        <p:spPr>
          <a:xfrm>
            <a:off x="6581775" y="3933825"/>
            <a:ext cx="4980622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Ordenación</a:t>
            </a:r>
            <a:endParaRPr/>
          </a:p>
        </p:txBody>
      </p:sp>
      <p:sp>
        <p:nvSpPr>
          <p:cNvPr id="369" name="Google Shape;369;p36"/>
          <p:cNvSpPr txBox="1"/>
          <p:nvPr/>
        </p:nvSpPr>
        <p:spPr>
          <a:xfrm>
            <a:off x="6581775" y="4362450"/>
            <a:ext cx="47434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.sortedByDescending { it.cantidad }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74" name="Google Shape;374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p37"/>
          <p:cNvSpPr txBox="1"/>
          <p:nvPr/>
        </p:nvSpPr>
        <p:spPr>
          <a:xfrm>
            <a:off x="762000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Validación de Entrada de Datos</a:t>
            </a:r>
            <a:endParaRPr/>
          </a:p>
        </p:txBody>
      </p:sp>
      <p:sp>
        <p:nvSpPr>
          <p:cNvPr id="376" name="Google Shape;376;p37"/>
          <p:cNvSpPr/>
          <p:nvPr/>
        </p:nvSpPr>
        <p:spPr>
          <a:xfrm>
            <a:off x="571500" y="571500"/>
            <a:ext cx="76200" cy="6191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37"/>
          <p:cNvSpPr txBox="1"/>
          <p:nvPr/>
        </p:nvSpPr>
        <p:spPr>
          <a:xfrm>
            <a:off x="952500" y="3243262"/>
            <a:ext cx="10668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KeyboardType.Decimal:</a:t>
            </a: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Forzamos al sistema a mostrar el teclado numérico.</a:t>
            </a:r>
            <a:endParaRPr/>
          </a:p>
        </p:txBody>
      </p:sp>
      <p:sp>
        <p:nvSpPr>
          <p:cNvPr id="378" name="Google Shape;378;p37"/>
          <p:cNvSpPr txBox="1"/>
          <p:nvPr/>
        </p:nvSpPr>
        <p:spPr>
          <a:xfrm>
            <a:off x="952500" y="3700462"/>
            <a:ext cx="10668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Sanitización:</a:t>
            </a: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Comprobamos que el concepto no esté vacío y el monto sea &gt; 0 antes de guardar.</a:t>
            </a:r>
            <a:endParaRPr/>
          </a:p>
        </p:txBody>
      </p:sp>
      <p:sp>
        <p:nvSpPr>
          <p:cNvPr id="379" name="Google Shape;379;p37"/>
          <p:cNvSpPr txBox="1"/>
          <p:nvPr/>
        </p:nvSpPr>
        <p:spPr>
          <a:xfrm>
            <a:off x="952500" y="4157662"/>
            <a:ext cx="10668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Feedback:</a:t>
            </a: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Uso de </a:t>
            </a:r>
            <a:r>
              <a:rPr b="0" i="1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Toast</a:t>
            </a:r>
            <a:r>
              <a:rPr b="0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para confirmar al usuario que el registro fue exitoso.</a:t>
            </a:r>
            <a:endParaRPr/>
          </a:p>
        </p:txBody>
      </p:sp>
      <p:pic>
        <p:nvPicPr>
          <p:cNvPr descr="image.png" id="380" name="Google Shape;380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3286125"/>
            <a:ext cx="23812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1" name="Google Shape;381;p3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743325"/>
            <a:ext cx="23812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2" name="Google Shape;382;p3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200525"/>
            <a:ext cx="209550" cy="21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87" name="Google Shape;387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8" name="Google Shape;388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38"/>
          <p:cNvSpPr/>
          <p:nvPr/>
        </p:nvSpPr>
        <p:spPr>
          <a:xfrm>
            <a:off x="5619750" y="2647950"/>
            <a:ext cx="9525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38"/>
          <p:cNvSpPr txBox="1"/>
          <p:nvPr/>
        </p:nvSpPr>
        <p:spPr>
          <a:xfrm>
            <a:off x="0" y="2971800"/>
            <a:ext cx="121920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8. Conclusiones </a:t>
            </a:r>
            <a:r>
              <a:rPr b="1" lang="en-US" sz="54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</a:t>
            </a:r>
            <a:r>
              <a:rPr b="1" i="0" lang="en-US" sz="54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inales</a:t>
            </a:r>
            <a:endParaRPr/>
          </a:p>
        </p:txBody>
      </p:sp>
      <p:sp>
        <p:nvSpPr>
          <p:cNvPr id="391" name="Google Shape;391;p38"/>
          <p:cNvSpPr txBox="1"/>
          <p:nvPr/>
        </p:nvSpPr>
        <p:spPr>
          <a:xfrm>
            <a:off x="0" y="4152900"/>
            <a:ext cx="12192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Aprendizajes clave del desarrollo de MyBudget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96" name="Google Shape;396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97" name="Google Shape;397;p3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3200400"/>
            <a:ext cx="3524250" cy="1457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98" name="Google Shape;398;p3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33875" y="3200400"/>
            <a:ext cx="3524250" cy="1457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99" name="Google Shape;399;p3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96250" y="3200400"/>
            <a:ext cx="3524250" cy="1457325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39"/>
          <p:cNvSpPr txBox="1"/>
          <p:nvPr/>
        </p:nvSpPr>
        <p:spPr>
          <a:xfrm>
            <a:off x="762000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Arquitectura y Estado</a:t>
            </a:r>
            <a:endParaRPr/>
          </a:p>
        </p:txBody>
      </p:sp>
      <p:sp>
        <p:nvSpPr>
          <p:cNvPr id="401" name="Google Shape;401;p39"/>
          <p:cNvSpPr/>
          <p:nvPr/>
        </p:nvSpPr>
        <p:spPr>
          <a:xfrm>
            <a:off x="571500" y="571500"/>
            <a:ext cx="76200" cy="6191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39"/>
          <p:cNvSpPr txBox="1"/>
          <p:nvPr/>
        </p:nvSpPr>
        <p:spPr>
          <a:xfrm>
            <a:off x="819150" y="3448050"/>
            <a:ext cx="3180397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Unidireccional</a:t>
            </a:r>
            <a:endParaRPr/>
          </a:p>
        </p:txBody>
      </p:sp>
      <p:sp>
        <p:nvSpPr>
          <p:cNvPr id="403" name="Google Shape;403;p39"/>
          <p:cNvSpPr txBox="1"/>
          <p:nvPr/>
        </p:nvSpPr>
        <p:spPr>
          <a:xfrm>
            <a:off x="819150" y="3876675"/>
            <a:ext cx="302895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El estado fluye hacia abajo y los eventos hacia arriba (Hoisting).</a:t>
            </a:r>
            <a:endParaRPr/>
          </a:p>
        </p:txBody>
      </p:sp>
      <p:sp>
        <p:nvSpPr>
          <p:cNvPr id="404" name="Google Shape;404;p39"/>
          <p:cNvSpPr txBox="1"/>
          <p:nvPr/>
        </p:nvSpPr>
        <p:spPr>
          <a:xfrm>
            <a:off x="4581525" y="3448050"/>
            <a:ext cx="3180397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Modularidad</a:t>
            </a:r>
            <a:endParaRPr/>
          </a:p>
        </p:txBody>
      </p:sp>
      <p:sp>
        <p:nvSpPr>
          <p:cNvPr id="405" name="Google Shape;405;p39"/>
          <p:cNvSpPr txBox="1"/>
          <p:nvPr/>
        </p:nvSpPr>
        <p:spPr>
          <a:xfrm>
            <a:off x="4581525" y="3876675"/>
            <a:ext cx="302895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Separación clara entre UI (MainActivity), Datos (Gestor) y Lógica (KPIs).</a:t>
            </a:r>
            <a:endParaRPr/>
          </a:p>
        </p:txBody>
      </p:sp>
      <p:sp>
        <p:nvSpPr>
          <p:cNvPr id="406" name="Google Shape;406;p39"/>
          <p:cNvSpPr txBox="1"/>
          <p:nvPr/>
        </p:nvSpPr>
        <p:spPr>
          <a:xfrm>
            <a:off x="8343900" y="3448050"/>
            <a:ext cx="3180397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Reactividad</a:t>
            </a:r>
            <a:endParaRPr/>
          </a:p>
        </p:txBody>
      </p:sp>
      <p:sp>
        <p:nvSpPr>
          <p:cNvPr id="407" name="Google Shape;407;p39"/>
          <p:cNvSpPr txBox="1"/>
          <p:nvPr/>
        </p:nvSpPr>
        <p:spPr>
          <a:xfrm>
            <a:off x="8343900" y="3876675"/>
            <a:ext cx="302895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La interfaz se actualiza sola al modificar las listas de </a:t>
            </a:r>
            <a:r>
              <a:rPr b="0" i="1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remember</a:t>
            </a:r>
            <a:r>
              <a:rPr b="0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12" name="Google Shape;412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p40"/>
          <p:cNvSpPr txBox="1"/>
          <p:nvPr/>
        </p:nvSpPr>
        <p:spPr>
          <a:xfrm>
            <a:off x="762000" y="571500"/>
            <a:ext cx="114015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Consejos</a:t>
            </a:r>
            <a:endParaRPr/>
          </a:p>
        </p:txBody>
      </p:sp>
      <p:sp>
        <p:nvSpPr>
          <p:cNvPr id="414" name="Google Shape;414;p40"/>
          <p:cNvSpPr/>
          <p:nvPr/>
        </p:nvSpPr>
        <p:spPr>
          <a:xfrm>
            <a:off x="571500" y="571500"/>
            <a:ext cx="76200" cy="6191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40"/>
          <p:cNvSpPr txBox="1"/>
          <p:nvPr/>
        </p:nvSpPr>
        <p:spPr>
          <a:xfrm>
            <a:off x="571500" y="3500437"/>
            <a:ext cx="110490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50" u="none" cap="none" strike="noStrike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rPr>
              <a:t>"No intentes construir Room o Retrofit el primer día. Domina primero el estado de Compose y la manipulación de colecciones en Kotlin."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20" name="Google Shape;420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p41"/>
          <p:cNvSpPr txBox="1"/>
          <p:nvPr/>
        </p:nvSpPr>
        <p:spPr>
          <a:xfrm>
            <a:off x="762000" y="571500"/>
            <a:ext cx="11401425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Próximos Pasos (Roadmap)</a:t>
            </a:r>
            <a:endParaRPr/>
          </a:p>
        </p:txBody>
      </p:sp>
      <p:sp>
        <p:nvSpPr>
          <p:cNvPr id="422" name="Google Shape;422;p41"/>
          <p:cNvSpPr/>
          <p:nvPr/>
        </p:nvSpPr>
        <p:spPr>
          <a:xfrm>
            <a:off x="571500" y="571500"/>
            <a:ext cx="76200" cy="61912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423" name="Google Shape;423;p41"/>
          <p:cNvGraphicFramePr/>
          <p:nvPr/>
        </p:nvGraphicFramePr>
        <p:xfrm>
          <a:off x="571500" y="32956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{AC3C6DC1-17D5-4CF7-A57A-4E69DF0DC0EE}</a:tableStyleId>
              </a:tblPr>
              <a:tblGrid>
                <a:gridCol w="1905000"/>
                <a:gridCol w="9144000"/>
              </a:tblGrid>
              <a:tr h="485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Fase 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Sustituir SharedPreferences por Room (SQLite)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5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Fase 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Implementar Biometría (Huella) para seguridad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5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Fase 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1E293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Sincronización en la nube con Firebase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424" name="Google Shape;424;p41"/>
          <p:cNvSpPr/>
          <p:nvPr/>
        </p:nvSpPr>
        <p:spPr>
          <a:xfrm>
            <a:off x="571500" y="3767137"/>
            <a:ext cx="1905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41"/>
          <p:cNvSpPr/>
          <p:nvPr/>
        </p:nvSpPr>
        <p:spPr>
          <a:xfrm>
            <a:off x="2476500" y="3767137"/>
            <a:ext cx="9144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41"/>
          <p:cNvSpPr/>
          <p:nvPr/>
        </p:nvSpPr>
        <p:spPr>
          <a:xfrm>
            <a:off x="571500" y="4252912"/>
            <a:ext cx="1905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41"/>
          <p:cNvSpPr/>
          <p:nvPr/>
        </p:nvSpPr>
        <p:spPr>
          <a:xfrm>
            <a:off x="2476500" y="4252912"/>
            <a:ext cx="9144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41"/>
          <p:cNvSpPr/>
          <p:nvPr/>
        </p:nvSpPr>
        <p:spPr>
          <a:xfrm>
            <a:off x="571500" y="4738687"/>
            <a:ext cx="1905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41"/>
          <p:cNvSpPr/>
          <p:nvPr/>
        </p:nvSpPr>
        <p:spPr>
          <a:xfrm>
            <a:off x="2476500" y="4738687"/>
            <a:ext cx="9144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