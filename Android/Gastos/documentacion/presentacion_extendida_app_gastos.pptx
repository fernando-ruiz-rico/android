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embeddedFontLst>
    <p:embeddedFont>
      <p:font typeface="Inter" panose="020B0604020202020204" charset="0"/>
      <p:regular r:id="rId32"/>
      <p:bold r:id="rId33"/>
      <p:italic r:id="rId34"/>
      <p:boldItalic r:id="rId35"/>
    </p:embeddedFont>
    <p:embeddedFont>
      <p:font typeface="Inter Light" panose="020B0604020202020204" charset="0"/>
      <p:regular r:id="rId36"/>
      <p:bold r:id="rId37"/>
      <p:italic r:id="rId38"/>
      <p:boldItalic r:id="rId39"/>
    </p:embeddedFont>
    <p:embeddedFont>
      <p:font typeface="Poppins" panose="000005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3C6DC1-17D5-4CF7-A57A-4E69DF0DC0EE}">
  <a:tblStyle styleId="{AC3C6DC1-17D5-4CF7-A57A-4E69DF0DC0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2964" y="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14562"/>
            <a:ext cx="11601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App de </a:t>
            </a:r>
            <a:r>
              <a:rPr lang="en-US" sz="60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gastos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7186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Implementación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en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 Kotlin &amp; Android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Implementación</a:t>
            </a: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33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royecto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52500" y="30146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Modelado de Datos: Clases y Enums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34718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Persistencia con SharedPreferences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9290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Generación de Reportes PDF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43862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UI con Jetpack Compose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67500" y="30146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Visualización de Datos (Canvas)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67500" y="34718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Lógica de Negocio y KPIs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3929062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Filtrado y Ordenación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43862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Conclusiones y Buenas Prácticas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575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147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719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2912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05752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351472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86500" y="39719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86500" y="4429125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5619750" y="264795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0" y="2971800"/>
            <a:ext cx="1219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Estructura y Modelos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0" y="4152900"/>
            <a:ext cx="1219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Definiendo el ADN de nuestra aplicación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976562"/>
            <a:ext cx="5334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Classes: El poder de Kotlin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3128962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clase </a:t>
            </a: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Gasto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utiliza una </a:t>
            </a:r>
            <a:r>
              <a:rPr lang="en-US" sz="12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Class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 encapsular la información financiera. Es la unidad mínima de nuestra app.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370046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Inmutabilidad: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Los datos se definen con 'val'.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4157662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Utilidades: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Autogeneración de toString(), equals() y hashcode().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19412"/>
            <a:ext cx="35242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919412"/>
            <a:ext cx="35242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919412"/>
            <a:ext cx="352425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Uso de Enum para </a:t>
            </a:r>
            <a:r>
              <a:rPr lang="en-US" sz="3300" b="1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ategorización</a:t>
            </a:r>
            <a:endParaRPr dirty="0"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819150" y="3729037"/>
            <a:ext cx="31803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Control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19150" y="4157662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Evita errores tipográficos al registrar gastos. Categorías cerradas.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581525" y="3729037"/>
            <a:ext cx="31803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Estética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581525" y="4157662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Asocia cada categoría a un color de Compose (Color) directamente.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343900" y="3729037"/>
            <a:ext cx="31803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Filtrado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343900" y="4157662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Facilita la agrupación de datos para los motores gráficos.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20516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1525" y="32051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3900" y="3205162"/>
            <a:ext cx="3429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5619750" y="264795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0" y="2971800"/>
            <a:ext cx="1219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Almacenamiento de Datos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0" y="4152900"/>
            <a:ext cx="1219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Haciendo que la información sobreviva al cierre de la app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SharedPreferences como Base de Datos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3357562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Lite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286500" y="283845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Ideal para Aprendizaje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286500" y="3267075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 lugar de una compleja base de datos SQL (Room), usamos un sistema de Clave-Valor más sencillo.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667500" y="38385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Serialización manual: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Convertimos objetos en texto usando separadores (| y ;).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667500" y="456247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Acceso asíncrono: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Implementado mediante .apply().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protocolo de datos "Pipe"</a:t>
            </a: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571500" y="3300412"/>
          <a:ext cx="11049000" cy="1447800"/>
        </p:xfrm>
        <a:graphic>
          <a:graphicData uri="http://schemas.openxmlformats.org/drawingml/2006/table">
            <a:tbl>
              <a:tblPr firstRow="1" bandRow="1">
                <a:noFill/>
                <a:tableStyleId>{AC3C6DC1-17D5-4CF7-A57A-4E69DF0DC0EE}</a:tableStyleId>
              </a:tblPr>
              <a:tblGrid>
                <a:gridCol w="346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Objeto Gasto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Representación en String (DB)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Compra Comida (45.50€)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1711284000|Compra Comida|45.50|Alimentación|24/03/2026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Separador de Bloques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Utilizamos el punto y coma (;) para distinguir cada registro.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8" name="Google Shape;178;p20"/>
          <p:cNvSpPr/>
          <p:nvPr/>
        </p:nvSpPr>
        <p:spPr>
          <a:xfrm>
            <a:off x="571500" y="4248150"/>
            <a:ext cx="34650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036516" y="4248150"/>
            <a:ext cx="75839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71500" y="4733925"/>
            <a:ext cx="34650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036516" y="4733925"/>
            <a:ext cx="75839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5619750" y="264795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0" y="2971800"/>
            <a:ext cx="1219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Exportación </a:t>
            </a:r>
            <a:r>
              <a:rPr lang="en-US" sz="5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informes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0" y="4152900"/>
            <a:ext cx="1219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Saliendo del entorno digital al mundo físico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52775"/>
            <a:ext cx="53340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152775"/>
            <a:ext cx="53340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Generación de PDF Nativo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866775" y="3448050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PdfDocument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866775" y="3876675"/>
            <a:ext cx="4743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Usamos la API nativa de Android para "dibujar" en un lienzo virtual de tamaño A4 (595x842 puntos).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581775" y="3448050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Sistema de Archivos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581775" y="3876675"/>
            <a:ext cx="47434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Guardamos en </a:t>
            </a:r>
            <a:r>
              <a:rPr lang="en-US" sz="12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DIRECTORY_DOWNLOADS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 que el usuario acceda al archivo sin permisos especiales.</a:t>
            </a:r>
            <a:endParaRPr/>
          </a:p>
        </p:txBody>
      </p:sp>
      <p:pic>
        <p:nvPicPr>
          <p:cNvPr id="204" name="Google Shape;20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3495675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3495675"/>
            <a:ext cx="200025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Auto-Apertura y StrictMode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952500" y="32432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 Reto: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Android bloquea el acceso directo a archivos por seguridad (FileUriExposedException).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952500" y="37004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Solución Educativa: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Usamos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StrictMode.setVmPolicy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 relajar las reglas en esta app de aprendizaje.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952500" y="41576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Intent Chooser: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Invocamos al sistema para que el usuario elija su lector de PDF favorito.</a:t>
            </a:r>
            <a:endParaRPr/>
          </a:p>
        </p:txBody>
      </p:sp>
      <p:pic>
        <p:nvPicPr>
          <p:cNvPr id="216" name="Google Shape;21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861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4332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00525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/>
          <p:nvPr/>
        </p:nvSpPr>
        <p:spPr>
          <a:xfrm>
            <a:off x="5619750" y="264795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0" y="2971800"/>
            <a:ext cx="1219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Interfaz con Jetpack Compose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0" y="4152900"/>
            <a:ext cx="1219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Declaratividad y reactividad en estado puro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Single Page Application (SPA)</a:t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571500" y="3014662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 lugar de múltiples </a:t>
            </a:r>
            <a:r>
              <a:rPr lang="en-US" sz="12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Activities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usamos un único </a:t>
            </a: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MainActivity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que gestiona el estado de navegación.</a:t>
            </a:r>
            <a:endParaRPr/>
          </a:p>
        </p:txBody>
      </p:sp>
      <p:graphicFrame>
        <p:nvGraphicFramePr>
          <p:cNvPr id="236" name="Google Shape;236;p25"/>
          <p:cNvGraphicFramePr/>
          <p:nvPr/>
        </p:nvGraphicFramePr>
        <p:xfrm>
          <a:off x="6286500" y="3052762"/>
          <a:ext cx="5334000" cy="1457325"/>
        </p:xfrm>
        <a:graphic>
          <a:graphicData uri="http://schemas.openxmlformats.org/drawingml/2006/table">
            <a:tbl>
              <a:tblPr firstRow="1" bandRow="1">
                <a:noFill/>
                <a:tableStyleId>{AC3C6DC1-17D5-4CF7-A57A-4E69DF0DC0EE}</a:tableStyleId>
              </a:tblPr>
              <a:tblGrid>
                <a:gridCol w="210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Analítica y KPIs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Nuevo Gasto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Formulario de entrada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Historial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Lista filtrable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7" name="Google Shape;237;p25"/>
          <p:cNvSpPr txBox="1"/>
          <p:nvPr/>
        </p:nvSpPr>
        <p:spPr>
          <a:xfrm>
            <a:off x="952500" y="3548062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Estado Mutable: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pantallaActual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define qué Composable se renderiza.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952500" y="4271962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BackHandler: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Gestionamos el botón físico "atrás" de Android para no cerrar la app accidentalmente.</a:t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6286500" y="3524250"/>
            <a:ext cx="21072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8393757" y="3524250"/>
            <a:ext cx="3226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6286500" y="4010025"/>
            <a:ext cx="21072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8393757" y="4010025"/>
            <a:ext cx="3226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6286500" y="4495800"/>
            <a:ext cx="21072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8393757" y="4495800"/>
            <a:ext cx="3226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19412"/>
            <a:ext cx="35242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919412"/>
            <a:ext cx="35242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919412"/>
            <a:ext cx="352425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Diseño del Dashboard</a:t>
            </a:r>
            <a:endParaRPr/>
          </a:p>
        </p:txBody>
      </p:sp>
      <p:sp>
        <p:nvSpPr>
          <p:cNvPr id="254" name="Google Shape;254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819150" y="3729037"/>
            <a:ext cx="31803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Resumen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819150" y="4157662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Visualización del gasto total frente al presupuesto mensual mediante Cards.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4581525" y="3729037"/>
            <a:ext cx="31803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Tendencias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4581525" y="4157662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Integración de Canvas para gráficos de barras y circulares.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8343900" y="3729037"/>
            <a:ext cx="31803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Acciones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8343900" y="4157662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Botones flotantes para añadir gastos rápidamente.</a:t>
            </a:r>
            <a:endParaRPr/>
          </a:p>
        </p:txBody>
      </p:sp>
      <p:pic>
        <p:nvPicPr>
          <p:cNvPr id="261" name="Google Shape;261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2051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1525" y="32051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3900" y="3205162"/>
            <a:ext cx="3048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/>
          <p:nvPr/>
        </p:nvSpPr>
        <p:spPr>
          <a:xfrm>
            <a:off x="5619750" y="264795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0" y="2971800"/>
            <a:ext cx="1219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Lógica de Negocio Financiera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0" y="4152900"/>
            <a:ext cx="1219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Transformando datos brutos en información inteligente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Cálculo de KPIs Analíticos</a:t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 txBox="1"/>
          <p:nvPr/>
        </p:nvSpPr>
        <p:spPr>
          <a:xfrm>
            <a:off x="571500" y="3205162"/>
            <a:ext cx="53340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Avg</a:t>
            </a:r>
            <a:endParaRPr/>
          </a:p>
        </p:txBody>
      </p:sp>
      <p:sp>
        <p:nvSpPr>
          <p:cNvPr id="281" name="Google Shape;281;p28"/>
          <p:cNvSpPr txBox="1"/>
          <p:nvPr/>
        </p:nvSpPr>
        <p:spPr>
          <a:xfrm>
            <a:off x="6286500" y="3205162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Promedio Diario Inteligente</a:t>
            </a:r>
            <a:endParaRPr/>
          </a:p>
        </p:txBody>
      </p:sp>
      <p:sp>
        <p:nvSpPr>
          <p:cNvPr id="282" name="Google Shape;282;p28"/>
          <p:cNvSpPr txBox="1"/>
          <p:nvPr/>
        </p:nvSpPr>
        <p:spPr>
          <a:xfrm>
            <a:off x="6286500" y="3633787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Calculado dividiendo el total gastado entre el número de días únicos presentes en el historial.</a:t>
            </a:r>
            <a:endParaRPr/>
          </a:p>
        </p:txBody>
      </p:sp>
      <p:sp>
        <p:nvSpPr>
          <p:cNvPr id="283" name="Google Shape;283;p28"/>
          <p:cNvSpPr/>
          <p:nvPr/>
        </p:nvSpPr>
        <p:spPr>
          <a:xfrm>
            <a:off x="6286500" y="4167187"/>
            <a:ext cx="5334000" cy="3619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 txBox="1"/>
          <p:nvPr/>
        </p:nvSpPr>
        <p:spPr>
          <a:xfrm>
            <a:off x="6381750" y="4262437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total / gastos.map { it.fecha }.distinct().size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Predicción de Flujo de Caja</a:t>
            </a: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9"/>
          <p:cNvSpPr txBox="1"/>
          <p:nvPr/>
        </p:nvSpPr>
        <p:spPr>
          <a:xfrm>
            <a:off x="952500" y="32432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Estimación: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Multiplicamos el promedio diario por 30 para prever el gasto a fin de mes.</a:t>
            </a:r>
            <a:endParaRPr/>
          </a:p>
        </p:txBody>
      </p:sp>
      <p:sp>
        <p:nvSpPr>
          <p:cNvPr id="293" name="Google Shape;293;p29"/>
          <p:cNvSpPr txBox="1"/>
          <p:nvPr/>
        </p:nvSpPr>
        <p:spPr>
          <a:xfrm>
            <a:off x="952500" y="37004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Regla del 80%: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Si el gasto actual supera el 80% del presupuesto, la app cambia a un color de alerta (Naranja/Rojo).</a:t>
            </a:r>
            <a:endParaRPr/>
          </a:p>
        </p:txBody>
      </p:sp>
      <p:sp>
        <p:nvSpPr>
          <p:cNvPr id="294" name="Google Shape;294;p29"/>
          <p:cNvSpPr txBox="1"/>
          <p:nvPr/>
        </p:nvSpPr>
        <p:spPr>
          <a:xfrm>
            <a:off x="952500" y="41576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Categoría Top: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Uso de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groupBy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maxByOrNull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 identificar el mayor foco de gasto.</a:t>
            </a:r>
            <a:endParaRPr/>
          </a:p>
        </p:txBody>
      </p:sp>
      <p:pic>
        <p:nvPicPr>
          <p:cNvPr id="295" name="Google Shape;29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433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00525"/>
            <a:ext cx="2381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/>
          <p:nvPr/>
        </p:nvSpPr>
        <p:spPr>
          <a:xfrm>
            <a:off x="5619750" y="264795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0"/>
          <p:cNvSpPr txBox="1"/>
          <p:nvPr/>
        </p:nvSpPr>
        <p:spPr>
          <a:xfrm>
            <a:off x="0" y="2971800"/>
            <a:ext cx="1219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 Visualización con Canvas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0" y="4152900"/>
            <a:ext cx="1219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Geometría aplicada a las finanzas personales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2875" y="2738437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1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Gráfico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Circular</a:t>
            </a:r>
            <a:endParaRPr dirty="0"/>
          </a:p>
        </p:txBody>
      </p:sp>
      <p:sp>
        <p:nvSpPr>
          <p:cNvPr id="313" name="Google Shape;313;p3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952500" y="289083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drawArc: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Usamos ángulos para representar porcentajes.</a:t>
            </a:r>
            <a:endParaRPr/>
          </a:p>
        </p:txBody>
      </p:sp>
      <p:sp>
        <p:nvSpPr>
          <p:cNvPr id="315" name="Google Shape;315;p31"/>
          <p:cNvSpPr txBox="1"/>
          <p:nvPr/>
        </p:nvSpPr>
        <p:spPr>
          <a:xfrm>
            <a:off x="952500" y="3614737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Lógica: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360 grados equivalen al 100% del gasto total.</a:t>
            </a:r>
            <a:endParaRPr/>
          </a:p>
        </p:txBody>
      </p:sp>
      <p:sp>
        <p:nvSpPr>
          <p:cNvPr id="316" name="Google Shape;316;p31"/>
          <p:cNvSpPr txBox="1"/>
          <p:nvPr/>
        </p:nvSpPr>
        <p:spPr>
          <a:xfrm>
            <a:off x="952500" y="407193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Leyenda Dinámica: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Sincronización de colores entre el gráfico y el texto.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Gráfico de Barras Verticales</a:t>
            </a: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2"/>
          <p:cNvSpPr txBox="1"/>
          <p:nvPr/>
        </p:nvSpPr>
        <p:spPr>
          <a:xfrm>
            <a:off x="571500" y="5424487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Visualización de los últimos 5 días de gasto.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0400"/>
            <a:ext cx="110490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Native Canvas vs Compose Canvas</a:t>
            </a:r>
            <a:endParaRPr/>
          </a:p>
        </p:txBody>
      </p:sp>
      <p:sp>
        <p:nvSpPr>
          <p:cNvPr id="333" name="Google Shape;333;p3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857250" y="3448050"/>
            <a:ext cx="1104138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⚠️ El Reto del Texto</a:t>
            </a:r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857250" y="3876675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 Canvas moderno de Compose es excelente para figuras, pero limitado para texto avanzado. Usamos </a:t>
            </a:r>
            <a:r>
              <a:rPr lang="en-US" sz="12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nativeCanvas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 acceder a las APIs clásicas de Android (Paint) y rotular los ejes de los gráficos.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/>
          <p:nvPr/>
        </p:nvSpPr>
        <p:spPr>
          <a:xfrm>
            <a:off x="5619750" y="264795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4"/>
          <p:cNvSpPr txBox="1"/>
          <p:nvPr/>
        </p:nvSpPr>
        <p:spPr>
          <a:xfrm>
            <a:off x="0" y="2971800"/>
            <a:ext cx="1219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7.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Interacción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</a:t>
            </a:r>
            <a:endParaRPr dirty="0"/>
          </a:p>
        </p:txBody>
      </p:sp>
      <p:sp>
        <p:nvSpPr>
          <p:cNvPr id="344" name="Google Shape;344;p34"/>
          <p:cNvSpPr txBox="1"/>
          <p:nvPr/>
        </p:nvSpPr>
        <p:spPr>
          <a:xfrm>
            <a:off x="0" y="4152900"/>
            <a:ext cx="1219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Componentes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avanzados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957512"/>
            <a:ext cx="53340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Integración de DatePickerDialog</a:t>
            </a:r>
            <a:endParaRPr/>
          </a:p>
        </p:txBody>
      </p:sp>
      <p:sp>
        <p:nvSpPr>
          <p:cNvPr id="352" name="Google Shape;352;p3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5"/>
          <p:cNvSpPr txBox="1"/>
          <p:nvPr/>
        </p:nvSpPr>
        <p:spPr>
          <a:xfrm>
            <a:off x="952500" y="310991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Evita que el usuario escriba fechas mal formateadas.</a:t>
            </a:r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952500" y="3567112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Utiliza el calendario nativo del sistema operativo.</a:t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952500" y="4024312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Sincronización: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 actualiza el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state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'fechaSeleccionada' al cerrar el diálogo.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38550"/>
            <a:ext cx="53340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638550"/>
            <a:ext cx="5334000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6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Filtrado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3300" b="1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rdenación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300" b="1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inámica</a:t>
            </a:r>
            <a:endParaRPr dirty="0"/>
          </a:p>
        </p:txBody>
      </p:sp>
      <p:sp>
        <p:nvSpPr>
          <p:cNvPr id="364" name="Google Shape;364;p3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6"/>
          <p:cNvSpPr txBox="1"/>
          <p:nvPr/>
        </p:nvSpPr>
        <p:spPr>
          <a:xfrm>
            <a:off x="571500" y="3009900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 historial no es una lista estática. Aplicamos transformaciones funcionales de Kotlin en tiempo real:</a:t>
            </a:r>
            <a:endParaRPr/>
          </a:p>
        </p:txBody>
      </p:sp>
      <p:sp>
        <p:nvSpPr>
          <p:cNvPr id="366" name="Google Shape;366;p36"/>
          <p:cNvSpPr txBox="1"/>
          <p:nvPr/>
        </p:nvSpPr>
        <p:spPr>
          <a:xfrm>
            <a:off x="866775" y="39338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Filtrado</a:t>
            </a:r>
            <a:endParaRPr/>
          </a:p>
        </p:txBody>
      </p:sp>
      <p:sp>
        <p:nvSpPr>
          <p:cNvPr id="367" name="Google Shape;367;p36"/>
          <p:cNvSpPr txBox="1"/>
          <p:nvPr/>
        </p:nvSpPr>
        <p:spPr>
          <a:xfrm>
            <a:off x="866775" y="4362450"/>
            <a:ext cx="4743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.filter { it.categoria == seleccion }</a:t>
            </a:r>
            <a:endParaRPr/>
          </a:p>
        </p:txBody>
      </p:sp>
      <p:sp>
        <p:nvSpPr>
          <p:cNvPr id="368" name="Google Shape;368;p36"/>
          <p:cNvSpPr txBox="1"/>
          <p:nvPr/>
        </p:nvSpPr>
        <p:spPr>
          <a:xfrm>
            <a:off x="6581775" y="39338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Ordenación</a:t>
            </a:r>
            <a:endParaRPr/>
          </a:p>
        </p:txBody>
      </p:sp>
      <p:sp>
        <p:nvSpPr>
          <p:cNvPr id="369" name="Google Shape;369;p36"/>
          <p:cNvSpPr txBox="1"/>
          <p:nvPr/>
        </p:nvSpPr>
        <p:spPr>
          <a:xfrm>
            <a:off x="6581775" y="4362450"/>
            <a:ext cx="47434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.sortedByDescending { it.cantidad 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7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Validación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de entrada de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endParaRPr dirty="0"/>
          </a:p>
        </p:txBody>
      </p:sp>
      <p:sp>
        <p:nvSpPr>
          <p:cNvPr id="376" name="Google Shape;376;p3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7"/>
          <p:cNvSpPr txBox="1"/>
          <p:nvPr/>
        </p:nvSpPr>
        <p:spPr>
          <a:xfrm>
            <a:off x="952500" y="32432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KeyboardType.Decimal: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Forzamos al sistema a mostrar el teclado numérico.</a:t>
            </a:r>
            <a:endParaRPr/>
          </a:p>
        </p:txBody>
      </p:sp>
      <p:sp>
        <p:nvSpPr>
          <p:cNvPr id="378" name="Google Shape;378;p37"/>
          <p:cNvSpPr txBox="1"/>
          <p:nvPr/>
        </p:nvSpPr>
        <p:spPr>
          <a:xfrm>
            <a:off x="952500" y="37004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Sanitización: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Comprobamos que el concepto no esté vacío y el monto sea &gt; 0 antes de guardar.</a:t>
            </a:r>
            <a:endParaRPr/>
          </a:p>
        </p:txBody>
      </p:sp>
      <p:sp>
        <p:nvSpPr>
          <p:cNvPr id="379" name="Google Shape;379;p37"/>
          <p:cNvSpPr txBox="1"/>
          <p:nvPr/>
        </p:nvSpPr>
        <p:spPr>
          <a:xfrm>
            <a:off x="952500" y="4157662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Feedback: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Uso de </a:t>
            </a:r>
            <a:r>
              <a:rPr lang="en-US" sz="15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Toast</a:t>
            </a: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para confirmar al usuario que el registro fue exitoso.</a:t>
            </a:r>
            <a:endParaRPr/>
          </a:p>
        </p:txBody>
      </p:sp>
      <p:pic>
        <p:nvPicPr>
          <p:cNvPr id="380" name="Google Shape;38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8612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4332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005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8"/>
          <p:cNvSpPr/>
          <p:nvPr/>
        </p:nvSpPr>
        <p:spPr>
          <a:xfrm>
            <a:off x="5619750" y="264795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8"/>
          <p:cNvSpPr txBox="1"/>
          <p:nvPr/>
        </p:nvSpPr>
        <p:spPr>
          <a:xfrm>
            <a:off x="0" y="2971800"/>
            <a:ext cx="12192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8. Conclusiones </a:t>
            </a:r>
            <a:r>
              <a:rPr lang="en-US" sz="54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inales</a:t>
            </a:r>
            <a:endParaRPr/>
          </a:p>
        </p:txBody>
      </p:sp>
      <p:sp>
        <p:nvSpPr>
          <p:cNvPr id="391" name="Google Shape;391;p38"/>
          <p:cNvSpPr txBox="1"/>
          <p:nvPr/>
        </p:nvSpPr>
        <p:spPr>
          <a:xfrm>
            <a:off x="0" y="4152900"/>
            <a:ext cx="12192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Aprendizajes clave del desarrollo de MyBudget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00400"/>
            <a:ext cx="3524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3200400"/>
            <a:ext cx="3524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3200400"/>
            <a:ext cx="35242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Arquitectura y Estado</a:t>
            </a:r>
            <a:endParaRPr/>
          </a:p>
        </p:txBody>
      </p:sp>
      <p:sp>
        <p:nvSpPr>
          <p:cNvPr id="401" name="Google Shape;401;p3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9"/>
          <p:cNvSpPr txBox="1"/>
          <p:nvPr/>
        </p:nvSpPr>
        <p:spPr>
          <a:xfrm>
            <a:off x="819150" y="3448050"/>
            <a:ext cx="31803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Unidireccional</a:t>
            </a:r>
            <a:endParaRPr/>
          </a:p>
        </p:txBody>
      </p:sp>
      <p:sp>
        <p:nvSpPr>
          <p:cNvPr id="403" name="Google Shape;403;p39"/>
          <p:cNvSpPr txBox="1"/>
          <p:nvPr/>
        </p:nvSpPr>
        <p:spPr>
          <a:xfrm>
            <a:off x="819150" y="3876675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 estado fluye hacia abajo y los eventos hacia arriba (Hoisting).</a:t>
            </a:r>
            <a:endParaRPr/>
          </a:p>
        </p:txBody>
      </p:sp>
      <p:sp>
        <p:nvSpPr>
          <p:cNvPr id="404" name="Google Shape;404;p39"/>
          <p:cNvSpPr txBox="1"/>
          <p:nvPr/>
        </p:nvSpPr>
        <p:spPr>
          <a:xfrm>
            <a:off x="4581525" y="3448050"/>
            <a:ext cx="31803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Modularidad</a:t>
            </a:r>
            <a:endParaRPr/>
          </a:p>
        </p:txBody>
      </p:sp>
      <p:sp>
        <p:nvSpPr>
          <p:cNvPr id="405" name="Google Shape;405;p39"/>
          <p:cNvSpPr txBox="1"/>
          <p:nvPr/>
        </p:nvSpPr>
        <p:spPr>
          <a:xfrm>
            <a:off x="4581525" y="3876675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Separación clara entre UI (MainActivity), Datos (Gestor) y Lógica (KPIs).</a:t>
            </a:r>
            <a:endParaRPr/>
          </a:p>
        </p:txBody>
      </p:sp>
      <p:sp>
        <p:nvSpPr>
          <p:cNvPr id="406" name="Google Shape;406;p39"/>
          <p:cNvSpPr txBox="1"/>
          <p:nvPr/>
        </p:nvSpPr>
        <p:spPr>
          <a:xfrm>
            <a:off x="8343900" y="3448050"/>
            <a:ext cx="31803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Reactividad</a:t>
            </a:r>
            <a:endParaRPr/>
          </a:p>
        </p:txBody>
      </p:sp>
      <p:sp>
        <p:nvSpPr>
          <p:cNvPr id="407" name="Google Shape;407;p39"/>
          <p:cNvSpPr txBox="1"/>
          <p:nvPr/>
        </p:nvSpPr>
        <p:spPr>
          <a:xfrm>
            <a:off x="8343900" y="3876675"/>
            <a:ext cx="3028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interfaz se actualiza sola al modificar las listas de </a:t>
            </a:r>
            <a:r>
              <a:rPr lang="en-US" sz="1200" b="0" i="1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remember</a:t>
            </a:r>
            <a:r>
              <a:rPr lang="en-US" sz="12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0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Consejos</a:t>
            </a:r>
            <a:endParaRPr/>
          </a:p>
        </p:txBody>
      </p:sp>
      <p:sp>
        <p:nvSpPr>
          <p:cNvPr id="414" name="Google Shape;414;p4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0"/>
          <p:cNvSpPr txBox="1"/>
          <p:nvPr/>
        </p:nvSpPr>
        <p:spPr>
          <a:xfrm>
            <a:off x="571500" y="3500437"/>
            <a:ext cx="11049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"No intentes construir Room o Retrofit el primer día. Domina primero el estado de Compose y la manipulación de colecciones en Kotlin."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1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Próximos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Pasos</a:t>
            </a:r>
            <a:endParaRPr dirty="0"/>
          </a:p>
        </p:txBody>
      </p:sp>
      <p:sp>
        <p:nvSpPr>
          <p:cNvPr id="422" name="Google Shape;422;p4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41"/>
          <p:cNvGraphicFramePr/>
          <p:nvPr/>
        </p:nvGraphicFramePr>
        <p:xfrm>
          <a:off x="571500" y="3295650"/>
          <a:ext cx="11049000" cy="1457325"/>
        </p:xfrm>
        <a:graphic>
          <a:graphicData uri="http://schemas.openxmlformats.org/drawingml/2006/table">
            <a:tbl>
              <a:tblPr firstRow="1" bandRow="1">
                <a:noFill/>
                <a:tableStyleId>{AC3C6DC1-17D5-4CF7-A57A-4E69DF0DC0EE}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Sustituir SharedPreferences por Room (SQLite)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Implementar Biometría (Huella) para seguridad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Sincronización en la nube con Firebase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4" name="Google Shape;424;p41"/>
          <p:cNvSpPr/>
          <p:nvPr/>
        </p:nvSpPr>
        <p:spPr>
          <a:xfrm>
            <a:off x="571500" y="3767137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1"/>
          <p:cNvSpPr/>
          <p:nvPr/>
        </p:nvSpPr>
        <p:spPr>
          <a:xfrm>
            <a:off x="2476500" y="3767137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571500" y="4252912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1"/>
          <p:cNvSpPr/>
          <p:nvPr/>
        </p:nvSpPr>
        <p:spPr>
          <a:xfrm>
            <a:off x="2476500" y="4252912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571500" y="4738687"/>
            <a:ext cx="190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1"/>
          <p:cNvSpPr/>
          <p:nvPr/>
        </p:nvSpPr>
        <p:spPr>
          <a:xfrm>
            <a:off x="2476500" y="4738687"/>
            <a:ext cx="914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940</Words>
  <Application>Microsoft Office PowerPoint</Application>
  <PresentationFormat>Panorámica</PresentationFormat>
  <Paragraphs>125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Calibri</vt:lpstr>
      <vt:lpstr>Inter</vt:lpstr>
      <vt:lpstr>Poppins</vt:lpstr>
      <vt:lpstr>Arial</vt:lpstr>
      <vt:lpstr>Inter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Fernando Ruiz</cp:lastModifiedBy>
  <cp:revision>1</cp:revision>
  <dcterms:modified xsi:type="dcterms:W3CDTF">2026-03-31T11:14:37Z</dcterms:modified>
</cp:coreProperties>
</file>